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e58f0f0-56f3-56b0-7f9a-938478c71078}">
          <p14:sldIdLst>
            <p14:sldId id="256"/>
            <p14:sldId id="257"/>
          </p14:sldIdLst>
        </p14:section>
        <p14:section name="Data" id="{67474563-c4c2-e576-3d75-ac7161d090dd}">
          <p14:sldIdLst>
            <p14:sldId id="258"/>
            <p14:sldId id="259"/>
            <p14:sldId id="260"/>
          </p14:sldIdLst>
        </p14:section>
        <p14:section name="Method" id="{a8e7b47c-0466-9255-e4db-7d8c1db6637a}">
          <p14:sldIdLst>
            <p14:sldId id="261"/>
            <p14:sldId id="262"/>
            <p14:sldId id="263"/>
            <p14:sldId id="264"/>
          </p14:sldIdLst>
        </p14:section>
        <p14:section name="Results" id="{1f92406f-f403-c091-70f5-eb2ae2751a5a}">
          <p14:sldIdLst>
            <p14:sldId id="265"/>
            <p14:sldId id="266"/>
            <p14:sldId id="267"/>
            <p14:sldId id="268"/>
          </p14:sldIdLst>
        </p14:section>
        <p14:section name="Conclusion" id="{adf903b9-a5b2-aa89-b0e2-d63b6c7dcd81}">
          <p14:sldIdLst>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600" b="0" i="0" u="none" strike="noStrike">
                <a:solidFill>
                  <a:srgbClr val="14213D"/>
                </a:solidFill>
                <a:latin typeface="+mn-lt"/>
              </a:defRPr>
            </a:pPr>
            <a:r>
              <a:rPr sz="1600" b="0" i="0" u="none" strike="noStrike">
                <a:solidFill>
                  <a:srgbClr val="14213D"/>
                </a:solidFill>
                <a:latin typeface="+mn-lt"/>
              </a:rPr>
              <a:t>Test PR AUC (higher is better)</a:t>
            </a:r>
          </a:p>
        </c:rich>
      </c:tx>
      <c:layout/>
      <c:overlay val="0"/>
    </c:title>
    <c:autoTitleDeleted val="0"/>
    <c:plotArea>
      <c:layout/>
      <c:barChart>
        <c:barDir val="col"/>
        <c:grouping val="clustered"/>
        <c:varyColors val="0"/>
        <c:ser>
          <c:idx val="0"/>
          <c:order val="0"/>
          <c:tx>
            <c:strRef>
              <c:f>Sheet1!$B$1</c:f>
              <c:strCache>
                <c:ptCount val="1"/>
                <c:pt idx="0">
                  <c:v>PR AUC</c:v>
                </c:pt>
              </c:strCache>
            </c:strRef>
          </c:tx>
          <c:spPr>
            <a:solidFill>
              <a:srgbClr val="9AA5B1"/>
            </a:solidFill>
            <a:effectLst/>
          </c:spPr>
          <c:invertIfNegative val="0"/>
          <c:dLbls>
            <c:numFmt formatCode="0.000" sourceLinked="0"/>
            <c:txPr>
              <a:bodyPr/>
              <a:lstStyle/>
              <a:p>
                <a:pPr>
                  <a:defRPr b="0" i="0" strike="noStrike" sz="1400" u="none">
                    <a:solidFill>
                      <a:srgbClr val="14213D"/>
                    </a:solidFill>
                    <a:latin typeface="+mn-lt"/>
                  </a:defRPr>
                </a:pPr>
              </a:p>
            </c:txPr>
            <c:showLegendKey val="0"/>
            <c:showVal val="1"/>
            <c:showCatName val="0"/>
            <c:showSerName val="0"/>
            <c:showPercent val="0"/>
            <c:showBubbleSize val="0"/>
            <c:showLeaderLines val="0"/>
          </c:dLbls>
          <c:dPt>
            <c:idx val="0"/>
            <c:invertIfNegative val="0"/>
            <c:bubble3D val="0"/>
            <c:spPr>
              <a:solidFill>
                <a:srgbClr val="9AA5B1"/>
              </a:solidFill>
              <a:effectLst/>
            </c:spPr>
          </c:dPt>
          <c:dPt>
            <c:idx val="1"/>
            <c:invertIfNegative val="0"/>
            <c:bubble3D val="0"/>
            <c:spPr>
              <a:solidFill>
                <a:srgbClr val="5B6B82"/>
              </a:solidFill>
              <a:effectLst/>
            </c:spPr>
          </c:dPt>
          <c:dPt>
            <c:idx val="2"/>
            <c:invertIfNegative val="0"/>
            <c:bubble3D val="0"/>
            <c:spPr>
              <a:solidFill>
                <a:srgbClr val="F5A623"/>
              </a:solidFill>
              <a:effectLst/>
            </c:spPr>
          </c:dPt>
          <c:cat>
            <c:multiLvlStrRef>
              <c:f>Sheet1!$A$2:$A$4</c:f>
              <c:multiLvlStrCache>
                <c:ptCount val="3"/>
                <c:lvl>
                  <c:pt idx="0">
                    <c:v>Random guess</c:v>
                  </c:pt>
                  <c:pt idx="1">
                    <c:v>Logistic Regression</c:v>
                  </c:pt>
                  <c:pt idx="2">
                    <c:v>XGBoost</c:v>
                  </c:pt>
                </c:lvl>
              </c:multiLvlStrCache>
            </c:multiLvlStrRef>
          </c:cat>
          <c:val>
            <c:numRef>
              <c:f>Sheet1!$B$2:$B$4</c:f>
              <c:numCache>
                <c:formatCode>General</c:formatCode>
                <c:ptCount val="3"/>
                <c:pt idx="0">
                  <c:v>0.258</c:v>
                </c:pt>
                <c:pt idx="1">
                  <c:v>0.376</c:v>
                </c:pt>
                <c:pt idx="2">
                  <c:v>0.391</c:v>
                </c:pt>
              </c:numCache>
            </c:numRef>
          </c:val>
        </c:ser>
        <c:dLbls>
          <c:numFmt formatCode="0.000" sourceLinked="0"/>
          <c:txPr>
            <a:bodyPr/>
            <a:lstStyle/>
            <a:p>
              <a:pPr>
                <a:defRPr b="0" i="0" strike="noStrike" sz="1400" u="none">
                  <a:solidFill>
                    <a:srgbClr val="14213D"/>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4213D"/>
                </a:solidFill>
                <a:latin typeface="+mn-lt"/>
              </a:defRPr>
            </a:pPr>
            <a:endParaRPr lang="en-US"/>
          </a:p>
        </c:txPr>
        <c:crossAx val="2094734552"/>
        <c:crosses val="autoZero"/>
        <c:auto val="1"/>
        <c:lblAlgn val="ctr"/>
        <c:noMultiLvlLbl val="1"/>
      </c:catAx>
      <c:valAx>
        <c:axId val="2094734552"/>
        <c:scaling>
          <c:orientation val="minMax"/>
          <c:max val="0.5"/>
          <c:min val="0"/>
        </c:scaling>
        <c:delete val="0"/>
        <c:axPos val="l"/>
        <c:majorGridlines>
          <c:spPr>
            <a:ln w="6350" cap="flat">
              <a:solidFill>
                <a:srgbClr val="E1E6ED"/>
              </a:solidFill>
              <a:prstDash val="solid"/>
              <a:round/>
            </a:ln>
          </c:spPr>
        </c:majorGridlines>
        <c:numFmt formatCode="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82"/>
                </a:solidFill>
                <a:latin typeface="+mn-lt"/>
              </a:defRPr>
            </a:pPr>
            <a:endParaRPr lang="en-US"/>
          </a:p>
        </c:txPr>
        <c:crossAx val="2094734554"/>
        <c:crosses val="autoZero"/>
        <c:crossBetween val="between"/>
        <c:majorUnit val="0.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presenter: Mayank Pillai.
Introduce the team and the project: Project 21, predicting flight delays. Phase 1 is the Machine Learning part: data, features, Logistic Regression and XGBoost. Phase 2 will add deep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presenter: Mayank Pillai.
The task is binary classification: will the flight arrive 15+ minutes late? The key constraint is timing: the prediction is made before departure, so any information from after the plane leaves is forbidden. About a quarter of flights are delayed, so always predicting 'on time' would already be 75% accurate. That is why we use PR AUC.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presenter: Asad Ali.
The dataset is nycflights13, the Kaggle Flights 2013 data: all flights that left the three New York airports in 2013. Cancelled and diverted flights have no arrival delay, so we cannot build the target for them and they are removed. There are no duplicates. The left chart shows the class imbalance; the right chart shows that most flights are early or on time, with a long tail of large delays.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presenter: Asad Ali.
The strongest pattern is the hour of the day: delays accumulate through the network, so late flights are much more often delayed. The delay rate also changes a lot over the year, which matters because we split by date. Saturdays have the fewest delays.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presenter: Asad Ali.
Carriers differ a lot: some are delayed three times as often as others. Newark is the most delayed airport. Together with the hour of day, this tells us which features to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presenter: Divyansh Bhartia.
Data leakage means using information the model could not have at prediction time. We fix the decision time first and then remove every column only known after departure. A subtle case: if we counted only flights that actually flew, days with many cancellations (bad weather) would look quiet, and that would secretly tell the model about the weather. So congestion is counted on the full 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presenter: Divyansh Bhartia.
Four feature groups, all available before departure. Cyclic encoding puts time on a circle so that 23:00 and 00:00, or Sunday and Monday, are neighbours. The history features use a 7-day window shifted by one day, so a flight never sees its own day or the future. Month is not used because, with a date-based split, the model never sees November or December in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presenter: Mayank Pillai.
A random split would mix days, so the model would learn from the same days it is tested on, which is impossible in real life. We train on January to August, validate on September to October and test on November to December. Because one validation period is a noisy guide (September and October were very calm), XGBoost is tuned with three expanding-window folds and we average the PR AUC.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presenters: Vikrant Yadav (Logistic Regression) and Mayank Pillai (XGBoost).
Logistic Regression is a linear model of the log-odds, trained with L2 regularisation; class weights make the rare delayed class count more. XGBoost adds small decision trees one after another, each fitted to the gradient of the loss, with a second-order approximation and a penalty on tree size. The tuning table shows that the smallest model generalised best to later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presenter: Prashant Raj.
On the November to December test set, both models beat random guessing (PR AUC equal to the delay rate, 0.258). XGBoost has the best PR AUC, ROC AUC and Brier score. Its biggest advantage is at high precision: if we only raise an alert when we are fairly sure, XGBoost catches almost twice as many delayed flights.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presenter: Prashant Raj.
The PR curve shows precision against recall for every threshold; the area under it is PR AUC. The ROC curve shows true against false positive rate. An ROC AUC around 0.65 is normal for schedule-only features: most delay causes, like weather, are not known in advance.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presenter: Prashant Raj.
Calibrated means: of the flights given a 30% delay probability, about 30% really are delayed. Class weighting makes the raw probabilities far too high (curves below the diagonal). Isotonic regression maps the scores to calibrated probabilities and cuts the Brier score from about 0.22 to 0.19. Be honest in the viva: a constant guess scores 0.192, so the probabilities are reliable but only somewhat sharper than the average.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presenter: Mayank Pillai.
Gain importance measures how much each feature improves the trees' splits. The encoded hour features dominate, then the recent delay rate of the carrier, the number of flights scheduled that day and the route's recent delay rate. Logistic Regression agrees: the sine of the departure hour has a large negative weight, which means afternoon and evening flights get a higher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presenter: Mayank Pillai.
Summarise: pre-departure information carries a real but limited delay signal; XGBoost is the better model, especially when we want confident alerts; calibrated probabilities are usable for planning. Limitations: no weather, one city, one year, seasonal shift. Phase 2 will add a deep learning model with embeddings and compare it fairly on the same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to questions. Each member should be ready to explain their own part and the overall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7498080" cy="173736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548640" y="3657600"/>
            <a:ext cx="7498080" cy="731520"/>
          </a:xfrm>
          <a:prstGeom prst="rect">
            <a:avLst/>
          </a:prstGeom>
          <a:noFill/>
          <a:ln/>
        </p:spPr>
        <p:txBody>
          <a:bodyPr wrap="square" rtlCol="0"/>
          <a:lstStyle>
            <a:lvl1pPr indent="0" marL="0">
              <a:buNone/>
              <a:defRPr lang="en-US" sz="2200" dirty="0">
                <a:solidFill>
                  <a:schemeClr val="accent1"/>
                </a:solidFill>
              </a:defRPr>
            </a:lvl1pPr>
          </a:lstStyle>
          <a:p>
            <a:pPr indent="0" marL="0">
              <a:buNone/>
            </a:pPr>
            <a:endParaRPr lang="en-US" sz="2200" dirty="0"/>
          </a:p>
        </p:txBody>
      </p:sp>
      <p:sp>
        <p:nvSpPr>
          <p:cNvPr id="4" name="Text 0"/>
          <p:cNvSpPr/>
          <p:nvPr>
            <p:ph idx="102" type="body" hasCustomPrompt="1"/>
          </p:nvPr>
        </p:nvSpPr>
        <p:spPr>
          <a:xfrm>
            <a:off x="548640" y="5029200"/>
            <a:ext cx="7498080" cy="914400"/>
          </a:xfrm>
          <a:prstGeom prst="rect">
            <a:avLst/>
          </a:prstGeom>
          <a:noFill/>
          <a:ln/>
        </p:spPr>
        <p:txBody>
          <a:bodyPr wrap="square" rtlCol="0"/>
          <a:lstStyle>
            <a:lvl1pPr indent="0" marL="0">
              <a:buNone/>
              <a:defRPr lang="en-US" sz="1600" dirty="0">
                <a:solidFill>
                  <a:schemeClr val="bg2"/>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3600" b="1" dirty="0">
                <a:solidFill>
                  <a:schemeClr val="tx1"/>
                </a:solidFill>
              </a:defRPr>
            </a:lvl1pPr>
          </a:lstStyle>
          <a:p>
            <a:pPr indent="0" marL="0">
              <a:buNone/>
            </a:pPr>
            <a:endParaRPr lang="en-US" sz="36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3"/>
                </a:solidFill>
              </a:rPr>
              <a:t>Flight Delay Prediction  ·  Phase 1: Machine Learning</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3600" b="1" dirty="0">
                <a:solidFill>
                  <a:schemeClr val="bg1"/>
                </a:solidFill>
              </a:defRPr>
            </a:lvl1pPr>
          </a:lstStyle>
          <a:p>
            <a:pPr indent="0" marL="0">
              <a:buNone/>
            </a:pPr>
            <a:endParaRPr lang="en-US" sz="3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3.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4.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hyperlink" Target="https://github.com/mayank-pillai-99/flight-delay-prediction" TargetMode="External"/><Relationship Id="rId1" Type="http://schemas.openxmlformats.org/officeDocument/2006/relationships/image" Target="../media/image-15-1.pn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Project label"/>
          <p:cNvSpPr txBox="1"/>
          <p:nvPr/>
        </p:nvSpPr>
        <p:spPr>
          <a:xfrm>
            <a:off x="548640" y="1143000"/>
            <a:ext cx="5486400" cy="365760"/>
          </a:xfrm>
          <a:prstGeom prst="rect">
            <a:avLst/>
          </a:prstGeom>
          <a:noFill/>
          <a:ln/>
        </p:spPr>
        <p:txBody>
          <a:bodyPr wrap="square" lIns="0" tIns="0" rIns="0" bIns="0" rtlCol="0" anchor="ctr"/>
          <a:lstStyle/>
          <a:p>
            <a:pPr indent="0" marL="0">
              <a:buNone/>
            </a:pPr>
            <a:r>
              <a:rPr lang="en-US" sz="1600" b="1" dirty="0">
                <a:solidFill>
                  <a:schemeClr val="accent1"/>
                </a:solidFill>
              </a:rPr>
              <a:t>Project 21  ·  CSAI</a:t>
            </a:r>
            <a:endParaRPr lang="en-US" sz="1600" dirty="0"/>
          </a:p>
        </p:txBody>
      </p:sp>
      <p:sp>
        <p:nvSpPr>
          <p:cNvPr id="3" name="Text 0"/>
          <p:cNvSpPr/>
          <p:nvPr>
            <p:ph idx="100" type="title" hasCustomPrompt="1"/>
          </p:nvPr>
        </p:nvSpPr>
        <p:spPr>
          <a:xfrm>
            <a:off x="548640" y="1828800"/>
            <a:ext cx="7498080" cy="1737360"/>
          </a:xfrm>
          <a:prstGeom prst="rect">
            <a:avLst/>
          </a:prstGeom>
          <a:noFill/>
          <a:ln/>
        </p:spPr>
        <p:txBody>
          <a:bodyPr wrap="square" lIns="0" tIns="0" rIns="0" bIns="0" rtlCol="0" anchor="b"/>
          <a:lstStyle/>
          <a:p>
            <a:pPr algn="l" indent="0" marL="0">
              <a:buNone/>
            </a:pPr>
            <a:r>
              <a:rPr lang="en-US" sz="4800" b="1" dirty="0">
                <a:solidFill>
                  <a:schemeClr val="bg1"/>
                </a:solidFill>
              </a:rPr>
              <a:t>Flight Delay Prediction via Gradient Boosting</a:t>
            </a:r>
            <a:endParaRPr lang="en-US" sz="4800" dirty="0"/>
          </a:p>
        </p:txBody>
      </p:sp>
      <p:sp>
        <p:nvSpPr>
          <p:cNvPr id="4" name="Text 0"/>
          <p:cNvSpPr/>
          <p:nvPr>
            <p:ph idx="101" type="body" hasCustomPrompt="1"/>
          </p:nvPr>
        </p:nvSpPr>
        <p:spPr>
          <a:xfrm>
            <a:off x="548640" y="3657600"/>
            <a:ext cx="7498080" cy="731520"/>
          </a:xfrm>
          <a:prstGeom prst="rect">
            <a:avLst/>
          </a:prstGeom>
          <a:noFill/>
          <a:ln/>
        </p:spPr>
        <p:txBody>
          <a:bodyPr wrap="square" lIns="0" tIns="0" rIns="0" bIns="0" rtlCol="0" anchor="t"/>
          <a:lstStyle/>
          <a:p>
            <a:pPr indent="0" marL="0">
              <a:buNone/>
            </a:pPr>
            <a:r>
              <a:rPr lang="en-US" sz="2200" dirty="0">
                <a:solidFill>
                  <a:schemeClr val="accent1"/>
                </a:solidFill>
              </a:rPr>
              <a:t>Phase 1: Machine Learning</a:t>
            </a:r>
            <a:endParaRPr lang="en-US" sz="2200" dirty="0"/>
          </a:p>
        </p:txBody>
      </p:sp>
      <p:sp>
        <p:nvSpPr>
          <p:cNvPr id="5" name="Text 0"/>
          <p:cNvSpPr/>
          <p:nvPr>
            <p:ph idx="102" type="body" hasCustomPrompt="1"/>
          </p:nvPr>
        </p:nvSpPr>
        <p:spPr>
          <a:xfrm>
            <a:off x="548640" y="5029200"/>
            <a:ext cx="7498080" cy="914400"/>
          </a:xfrm>
          <a:prstGeom prst="rect">
            <a:avLst/>
          </a:prstGeom>
          <a:noFill/>
          <a:ln/>
        </p:spPr>
        <p:txBody>
          <a:bodyPr wrap="square" lIns="0" tIns="0" rIns="0" bIns="0" rtlCol="0" anchor="t"/>
          <a:lstStyle/>
          <a:p>
            <a:pPr indent="0" marL="0">
              <a:buNone/>
            </a:pPr>
            <a:r>
              <a:rPr lang="en-US" sz="1600" dirty="0">
                <a:solidFill>
                  <a:schemeClr val="bg2"/>
                </a:solidFill>
              </a:rPr>
              <a:t>Asad Ali  ·  Divyansh Bhartia  ·  Vikrant Yadav  ·  Mayank Pillai  ·  Prashant Raj</a:t>
            </a:r>
            <a:endParaRPr lang="en-US" sz="1600" dirty="0"/>
          </a:p>
        </p:txBody>
      </p:sp>
      <p:sp>
        <p:nvSpPr>
          <p:cNvPr id="6" name="Hero circle"/>
          <p:cNvSpPr/>
          <p:nvPr/>
        </p:nvSpPr>
        <p:spPr>
          <a:xfrm>
            <a:off x="8732520" y="1828800"/>
            <a:ext cx="2926080" cy="2926080"/>
          </a:xfrm>
          <a:prstGeom prst="ellipse">
            <a:avLst/>
          </a:prstGeom>
          <a:solidFill>
            <a:schemeClr val="accent1"/>
          </a:solidFill>
          <a:ln/>
        </p:spPr>
      </p:sp>
      <p:pic>
        <p:nvPicPr>
          <p:cNvPr id="7" name="Hero icon" descr="Plane taking off">    </p:cNvPr>
          <p:cNvPicPr>
            <a:picLocks noChangeAspect="1"/>
          </p:cNvPicPr>
          <p:nvPr/>
        </p:nvPicPr>
        <p:blipFill>
          <a:blip r:embed="rId1"/>
          <a:stretch>
            <a:fillRect/>
          </a:stretch>
        </p:blipFill>
        <p:spPr>
          <a:xfrm>
            <a:off x="9418320" y="2514600"/>
            <a:ext cx="1554480" cy="15544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chemeClr val="tx1"/>
                </a:solidFill>
              </a:rPr>
              <a:t>Can we predict a delay before the flight leaves?</a:t>
            </a:r>
            <a:endParaRPr lang="en-US" sz="3600" dirty="0"/>
          </a:p>
        </p:txBody>
      </p:sp>
      <p:sp>
        <p:nvSpPr>
          <p:cNvPr id="3" name="Target circle"/>
          <p:cNvSpPr/>
          <p:nvPr/>
        </p:nvSpPr>
        <p:spPr>
          <a:xfrm>
            <a:off x="548640" y="1417320"/>
            <a:ext cx="822960" cy="822960"/>
          </a:xfrm>
          <a:prstGeom prst="ellipse">
            <a:avLst/>
          </a:prstGeom>
          <a:solidFill>
            <a:schemeClr val="accent1"/>
          </a:solidFill>
          <a:ln/>
        </p:spPr>
      </p:sp>
      <p:pic>
        <p:nvPicPr>
          <p:cNvPr id="4" name="Target icon" descr="Target icon">    </p:cNvPr>
          <p:cNvPicPr>
            <a:picLocks noChangeAspect="1"/>
          </p:cNvPicPr>
          <p:nvPr/>
        </p:nvPicPr>
        <p:blipFill>
          <a:blip r:embed="rId1"/>
          <a:stretch>
            <a:fillRect/>
          </a:stretch>
        </p:blipFill>
        <p:spPr>
          <a:xfrm>
            <a:off x="746150" y="1614830"/>
            <a:ext cx="427939" cy="427939"/>
          </a:xfrm>
          <a:prstGeom prst="rect">
            <a:avLst/>
          </a:prstGeom>
        </p:spPr>
      </p:pic>
      <p:sp>
        <p:nvSpPr>
          <p:cNvPr id="5" name="Target"/>
          <p:cNvSpPr txBox="1"/>
          <p:nvPr/>
        </p:nvSpPr>
        <p:spPr>
          <a:xfrm>
            <a:off x="1645920" y="1435608"/>
            <a:ext cx="5486400" cy="128016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Target</a:t>
            </a:r>
            <a:endParaRPr lang="en-US" sz="1800" dirty="0"/>
          </a:p>
          <a:p>
            <a:pPr indent="0" marL="0">
              <a:spcAft>
                <a:spcPts val="400"/>
              </a:spcAft>
              <a:buNone/>
            </a:pPr>
            <a:r>
              <a:rPr lang="en-US" sz="1500" dirty="0">
                <a:solidFill>
                  <a:schemeClr val="tx1"/>
                </a:solidFill>
              </a:rPr>
              <a:t>Arrival 15 or more minutes late, the US standard definition of a delayed flight</a:t>
            </a:r>
            <a:endParaRPr lang="en-US" sz="1800" dirty="0"/>
          </a:p>
        </p:txBody>
      </p:sp>
      <p:sp>
        <p:nvSpPr>
          <p:cNvPr id="6" name="Decision time circle"/>
          <p:cNvSpPr/>
          <p:nvPr/>
        </p:nvSpPr>
        <p:spPr>
          <a:xfrm>
            <a:off x="548640" y="3017520"/>
            <a:ext cx="822960" cy="822960"/>
          </a:xfrm>
          <a:prstGeom prst="ellipse">
            <a:avLst/>
          </a:prstGeom>
          <a:solidFill>
            <a:schemeClr val="accent1"/>
          </a:solidFill>
          <a:ln/>
        </p:spPr>
      </p:sp>
      <p:pic>
        <p:nvPicPr>
          <p:cNvPr id="7" name="Decision time icon" descr="Decision time icon">    </p:cNvPr>
          <p:cNvPicPr>
            <a:picLocks noChangeAspect="1"/>
          </p:cNvPicPr>
          <p:nvPr/>
        </p:nvPicPr>
        <p:blipFill>
          <a:blip r:embed="rId2"/>
          <a:stretch>
            <a:fillRect/>
          </a:stretch>
        </p:blipFill>
        <p:spPr>
          <a:xfrm>
            <a:off x="746150" y="3215030"/>
            <a:ext cx="427939" cy="427939"/>
          </a:xfrm>
          <a:prstGeom prst="rect">
            <a:avLst/>
          </a:prstGeom>
        </p:spPr>
      </p:pic>
      <p:sp>
        <p:nvSpPr>
          <p:cNvPr id="8" name="Decision time"/>
          <p:cNvSpPr txBox="1"/>
          <p:nvPr/>
        </p:nvSpPr>
        <p:spPr>
          <a:xfrm>
            <a:off x="1645920" y="3035808"/>
            <a:ext cx="5486400" cy="128016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Decision time</a:t>
            </a:r>
            <a:endParaRPr lang="en-US" sz="1800" dirty="0"/>
          </a:p>
          <a:p>
            <a:pPr indent="0" marL="0">
              <a:spcAft>
                <a:spcPts val="400"/>
              </a:spcAft>
              <a:buNone/>
            </a:pPr>
            <a:r>
              <a:rPr lang="en-US" sz="1500" dirty="0">
                <a:solidFill>
                  <a:schemeClr val="tx1"/>
                </a:solidFill>
              </a:rPr>
              <a:t>Before departure (the morning of the flight day): only the schedule and past days may be used</a:t>
            </a:r>
            <a:endParaRPr lang="en-US" sz="1800" dirty="0"/>
          </a:p>
        </p:txBody>
      </p:sp>
      <p:sp>
        <p:nvSpPr>
          <p:cNvPr id="9" name="Why it matters circle"/>
          <p:cNvSpPr/>
          <p:nvPr/>
        </p:nvSpPr>
        <p:spPr>
          <a:xfrm>
            <a:off x="548640" y="4617720"/>
            <a:ext cx="822960" cy="822960"/>
          </a:xfrm>
          <a:prstGeom prst="ellipse">
            <a:avLst/>
          </a:prstGeom>
          <a:solidFill>
            <a:schemeClr val="accent1"/>
          </a:solidFill>
          <a:ln/>
        </p:spPr>
      </p:sp>
      <p:pic>
        <p:nvPicPr>
          <p:cNvPr id="10" name="Why it matters icon" descr="Why it matters icon">    </p:cNvPr>
          <p:cNvPicPr>
            <a:picLocks noChangeAspect="1"/>
          </p:cNvPicPr>
          <p:nvPr/>
        </p:nvPicPr>
        <p:blipFill>
          <a:blip r:embed="rId3"/>
          <a:stretch>
            <a:fillRect/>
          </a:stretch>
        </p:blipFill>
        <p:spPr>
          <a:xfrm>
            <a:off x="746150" y="4815230"/>
            <a:ext cx="427939" cy="427939"/>
          </a:xfrm>
          <a:prstGeom prst="rect">
            <a:avLst/>
          </a:prstGeom>
        </p:spPr>
      </p:pic>
      <p:sp>
        <p:nvSpPr>
          <p:cNvPr id="11" name="Why it matters"/>
          <p:cNvSpPr txBox="1"/>
          <p:nvPr/>
        </p:nvSpPr>
        <p:spPr>
          <a:xfrm>
            <a:off x="1645920" y="4636008"/>
            <a:ext cx="5486400" cy="128016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Why it matters</a:t>
            </a:r>
            <a:endParaRPr lang="en-US" sz="1800" dirty="0"/>
          </a:p>
          <a:p>
            <a:pPr indent="0" marL="0">
              <a:spcAft>
                <a:spcPts val="400"/>
              </a:spcAft>
              <a:buNone/>
            </a:pPr>
            <a:r>
              <a:rPr lang="en-US" sz="1500" dirty="0">
                <a:solidFill>
                  <a:schemeClr val="tx1"/>
                </a:solidFill>
              </a:rPr>
              <a:t>Airlines can plan spare crews and aircraft, and warn passengers early</a:t>
            </a:r>
            <a:endParaRPr lang="en-US" sz="1800" dirty="0"/>
          </a:p>
        </p:txBody>
      </p:sp>
      <p:sp>
        <p:nvSpPr>
          <p:cNvPr id="12" name="Stat card"/>
          <p:cNvSpPr/>
          <p:nvPr/>
        </p:nvSpPr>
        <p:spPr>
          <a:xfrm>
            <a:off x="7589520" y="1417320"/>
            <a:ext cx="4050792" cy="4480560"/>
          </a:xfrm>
          <a:prstGeom prst="roundRect">
            <a:avLst>
              <a:gd name="adj" fmla="val 2709"/>
            </a:avLst>
          </a:prstGeom>
          <a:solidFill>
            <a:schemeClr val="bg2"/>
          </a:solidFill>
          <a:ln/>
        </p:spPr>
      </p:sp>
      <p:sp>
        <p:nvSpPr>
          <p:cNvPr id="13" name="Stat value"/>
          <p:cNvSpPr txBox="1"/>
          <p:nvPr/>
        </p:nvSpPr>
        <p:spPr>
          <a:xfrm>
            <a:off x="7863840" y="2057400"/>
            <a:ext cx="3502152" cy="1371600"/>
          </a:xfrm>
          <a:prstGeom prst="rect">
            <a:avLst/>
          </a:prstGeom>
          <a:noFill/>
          <a:ln/>
        </p:spPr>
        <p:txBody>
          <a:bodyPr wrap="square" lIns="0" tIns="0" rIns="0" bIns="0" rtlCol="0" anchor="ctr"/>
          <a:lstStyle/>
          <a:p>
            <a:pPr indent="0" marL="0">
              <a:buNone/>
            </a:pPr>
            <a:r>
              <a:rPr lang="en-US" sz="6600" b="1" dirty="0">
                <a:solidFill>
                  <a:schemeClr val="accent1"/>
                </a:solidFill>
              </a:rPr>
              <a:t>24.5%</a:t>
            </a:r>
            <a:endParaRPr lang="en-US" sz="6600" dirty="0"/>
          </a:p>
        </p:txBody>
      </p:sp>
      <p:sp>
        <p:nvSpPr>
          <p:cNvPr id="14" name="Stat label"/>
          <p:cNvSpPr txBox="1"/>
          <p:nvPr/>
        </p:nvSpPr>
        <p:spPr>
          <a:xfrm>
            <a:off x="7863840" y="3520440"/>
            <a:ext cx="3502152" cy="219456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of flights were delayed</a:t>
            </a:r>
            <a:endParaRPr lang="en-US" sz="1800" dirty="0"/>
          </a:p>
          <a:p>
            <a:pPr indent="0" marL="0">
              <a:spcAft>
                <a:spcPts val="400"/>
              </a:spcAft>
              <a:buNone/>
            </a:pPr>
            <a:r>
              <a:rPr lang="en-US" sz="1500" dirty="0">
                <a:solidFill>
                  <a:schemeClr val="tx1"/>
                </a:solidFill>
              </a:rPr>
              <a:t>2013 New York City departures</a:t>
            </a:r>
            <a:endParaRPr lang="en-US" sz="1800" dirty="0"/>
          </a:p>
          <a:p>
            <a:pPr indent="0" marL="0">
              <a:spcAft>
                <a:spcPts val="400"/>
              </a:spcAft>
              <a:buNone/>
            </a:pPr>
            <a:r>
              <a:rPr lang="en-US" sz="1500" dirty="0">
                <a:solidFill>
                  <a:schemeClr val="tx1"/>
                </a:solidFill>
              </a:rPr>
              <a:t>About 1 in 4, so the classes are imbalanced: accuracy is misleading, PR AUC is used instead</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chemeClr val="tx1"/>
                </a:solidFill>
              </a:rPr>
              <a:t>Dataset: every NYC departure in 2013</a:t>
            </a:r>
            <a:endParaRPr lang="en-US" sz="3600" dirty="0"/>
          </a:p>
        </p:txBody>
      </p:sp>
      <p:sp>
        <p:nvSpPr>
          <p:cNvPr id="3" name="Stat 1"/>
          <p:cNvSpPr/>
          <p:nvPr/>
        </p:nvSpPr>
        <p:spPr>
          <a:xfrm>
            <a:off x="548640" y="1325880"/>
            <a:ext cx="3566160" cy="1325880"/>
          </a:xfrm>
          <a:prstGeom prst="roundRect">
            <a:avLst>
              <a:gd name="adj" fmla="val 8276"/>
            </a:avLst>
          </a:prstGeom>
          <a:solidFill>
            <a:schemeClr val="bg2"/>
          </a:solidFill>
          <a:ln/>
        </p:spPr>
      </p:sp>
      <p:sp>
        <p:nvSpPr>
          <p:cNvPr id="4" name="Stat text 1"/>
          <p:cNvSpPr txBox="1"/>
          <p:nvPr/>
        </p:nvSpPr>
        <p:spPr>
          <a:xfrm>
            <a:off x="822960" y="1417320"/>
            <a:ext cx="3017520" cy="1143000"/>
          </a:xfrm>
          <a:prstGeom prst="rect">
            <a:avLst/>
          </a:prstGeom>
          <a:noFill/>
          <a:ln/>
        </p:spPr>
        <p:txBody>
          <a:bodyPr wrap="square" lIns="0" tIns="0" rIns="0" bIns="0" rtlCol="0" anchor="ctr"/>
          <a:lstStyle/>
          <a:p>
            <a:pPr indent="0" marL="0">
              <a:buNone/>
            </a:pPr>
            <a:r>
              <a:rPr lang="en-US" sz="3600" b="1" dirty="0">
                <a:solidFill>
                  <a:schemeClr val="accent1"/>
                </a:solidFill>
              </a:rPr>
              <a:t>336,776</a:t>
            </a:r>
            <a:endParaRPr lang="en-US" sz="3600" dirty="0"/>
          </a:p>
          <a:p>
            <a:pPr indent="0" marL="0">
              <a:buNone/>
            </a:pPr>
            <a:r>
              <a:rPr lang="en-US" sz="1500" dirty="0">
                <a:solidFill>
                  <a:schemeClr val="tx1"/>
                </a:solidFill>
              </a:rPr>
              <a:t>flights in the raw data</a:t>
            </a:r>
            <a:endParaRPr lang="en-US" sz="3600" dirty="0"/>
          </a:p>
        </p:txBody>
      </p:sp>
      <p:sp>
        <p:nvSpPr>
          <p:cNvPr id="5" name="Stat 2"/>
          <p:cNvSpPr/>
          <p:nvPr/>
        </p:nvSpPr>
        <p:spPr>
          <a:xfrm>
            <a:off x="4297680" y="1325880"/>
            <a:ext cx="3566160" cy="1325880"/>
          </a:xfrm>
          <a:prstGeom prst="roundRect">
            <a:avLst>
              <a:gd name="adj" fmla="val 8276"/>
            </a:avLst>
          </a:prstGeom>
          <a:solidFill>
            <a:schemeClr val="bg2"/>
          </a:solidFill>
          <a:ln/>
        </p:spPr>
      </p:sp>
      <p:sp>
        <p:nvSpPr>
          <p:cNvPr id="6" name="Stat text 2"/>
          <p:cNvSpPr txBox="1"/>
          <p:nvPr/>
        </p:nvSpPr>
        <p:spPr>
          <a:xfrm>
            <a:off x="4572000" y="1417320"/>
            <a:ext cx="3017520" cy="1143000"/>
          </a:xfrm>
          <a:prstGeom prst="rect">
            <a:avLst/>
          </a:prstGeom>
          <a:noFill/>
          <a:ln/>
        </p:spPr>
        <p:txBody>
          <a:bodyPr wrap="square" lIns="0" tIns="0" rIns="0" bIns="0" rtlCol="0" anchor="ctr"/>
          <a:lstStyle/>
          <a:p>
            <a:pPr indent="0" marL="0">
              <a:buNone/>
            </a:pPr>
            <a:r>
              <a:rPr lang="en-US" sz="3600" b="1" dirty="0">
                <a:solidFill>
                  <a:schemeClr val="accent1"/>
                </a:solidFill>
              </a:rPr>
              <a:t>3</a:t>
            </a:r>
            <a:endParaRPr lang="en-US" sz="3600" dirty="0"/>
          </a:p>
          <a:p>
            <a:pPr indent="0" marL="0">
              <a:buNone/>
            </a:pPr>
            <a:r>
              <a:rPr lang="en-US" sz="1500" dirty="0">
                <a:solidFill>
                  <a:schemeClr val="tx1"/>
                </a:solidFill>
              </a:rPr>
              <a:t>airports: JFK, LGA, EWR</a:t>
            </a:r>
            <a:endParaRPr lang="en-US" sz="3600" dirty="0"/>
          </a:p>
        </p:txBody>
      </p:sp>
      <p:sp>
        <p:nvSpPr>
          <p:cNvPr id="7" name="Stat 3"/>
          <p:cNvSpPr/>
          <p:nvPr/>
        </p:nvSpPr>
        <p:spPr>
          <a:xfrm>
            <a:off x="8046720" y="1325880"/>
            <a:ext cx="3566160" cy="1325880"/>
          </a:xfrm>
          <a:prstGeom prst="roundRect">
            <a:avLst>
              <a:gd name="adj" fmla="val 8276"/>
            </a:avLst>
          </a:prstGeom>
          <a:solidFill>
            <a:schemeClr val="bg2"/>
          </a:solidFill>
          <a:ln/>
        </p:spPr>
      </p:sp>
      <p:sp>
        <p:nvSpPr>
          <p:cNvPr id="8" name="Stat text 3"/>
          <p:cNvSpPr txBox="1"/>
          <p:nvPr/>
        </p:nvSpPr>
        <p:spPr>
          <a:xfrm>
            <a:off x="8321040" y="1417320"/>
            <a:ext cx="3017520" cy="1143000"/>
          </a:xfrm>
          <a:prstGeom prst="rect">
            <a:avLst/>
          </a:prstGeom>
          <a:noFill/>
          <a:ln/>
        </p:spPr>
        <p:txBody>
          <a:bodyPr wrap="square" lIns="0" tIns="0" rIns="0" bIns="0" rtlCol="0" anchor="ctr"/>
          <a:lstStyle/>
          <a:p>
            <a:pPr indent="0" marL="0">
              <a:buNone/>
            </a:pPr>
            <a:r>
              <a:rPr lang="en-US" sz="3600" b="1" dirty="0">
                <a:solidFill>
                  <a:schemeClr val="accent1"/>
                </a:solidFill>
              </a:rPr>
              <a:t>327,346</a:t>
            </a:r>
            <a:endParaRPr lang="en-US" sz="3600" dirty="0"/>
          </a:p>
          <a:p>
            <a:pPr indent="0" marL="0">
              <a:buNone/>
            </a:pPr>
            <a:r>
              <a:rPr lang="en-US" sz="1500" dirty="0">
                <a:solidFill>
                  <a:schemeClr val="tx1"/>
                </a:solidFill>
              </a:rPr>
              <a:t>flights kept after cleaning</a:t>
            </a:r>
            <a:endParaRPr lang="en-US" sz="3600" dirty="0"/>
          </a:p>
        </p:txBody>
      </p:sp>
      <p:pic>
        <p:nvPicPr>
          <p:cNvPr id="9" name="target_distribution.png" descr="Bar chart of on-time versus delayed flights and histogram of arrival delays">    </p:cNvPr>
          <p:cNvPicPr>
            <a:picLocks noChangeAspect="1"/>
          </p:cNvPicPr>
          <p:nvPr/>
        </p:nvPicPr>
        <p:blipFill>
          <a:blip r:embed="rId1"/>
          <a:stretch>
            <a:fillRect/>
          </a:stretch>
        </p:blipFill>
        <p:spPr>
          <a:xfrm>
            <a:off x="548640" y="2926080"/>
            <a:ext cx="7406640" cy="2468880"/>
          </a:xfrm>
          <a:prstGeom prst="rect">
            <a:avLst/>
          </a:prstGeom>
        </p:spPr>
      </p:pic>
      <p:sp>
        <p:nvSpPr>
          <p:cNvPr id="10" name="Data quality"/>
          <p:cNvSpPr txBox="1"/>
          <p:nvPr/>
        </p:nvSpPr>
        <p:spPr>
          <a:xfrm>
            <a:off x="8321040" y="3017520"/>
            <a:ext cx="3319272" cy="310896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Data quality</a:t>
            </a:r>
            <a:endParaRPr lang="en-US" sz="1800" dirty="0"/>
          </a:p>
          <a:p>
            <a:pPr marL="177800" indent="-177800">
              <a:spcAft>
                <a:spcPts val="400"/>
              </a:spcAft>
              <a:buSzPct val="100000"/>
              <a:buChar char="•"/>
            </a:pPr>
            <a:r>
              <a:rPr lang="en-US" sz="1500" dirty="0">
                <a:solidFill>
                  <a:schemeClr val="tx1"/>
                </a:solidFill>
              </a:rPr>
              <a:t>9,430 flights have no arrival delay (cancelled or diverted), so they are removed</a:t>
            </a:r>
            <a:endParaRPr lang="en-US" sz="1800" dirty="0"/>
          </a:p>
          <a:p>
            <a:pPr marL="177800" indent="-177800">
              <a:spcAft>
                <a:spcPts val="400"/>
              </a:spcAft>
              <a:buSzPct val="100000"/>
              <a:buChar char="•"/>
            </a:pPr>
            <a:r>
              <a:rPr lang="en-US" sz="1500" dirty="0">
                <a:solidFill>
                  <a:schemeClr val="tx1"/>
                </a:solidFill>
              </a:rPr>
              <a:t>0 duplicate rows</a:t>
            </a:r>
            <a:endParaRPr lang="en-US" sz="1800" dirty="0"/>
          </a:p>
          <a:p>
            <a:pPr marL="177800" indent="-177800">
              <a:spcAft>
                <a:spcPts val="400"/>
              </a:spcAft>
              <a:buSzPct val="100000"/>
              <a:buChar char="•"/>
            </a:pPr>
            <a:r>
              <a:rPr lang="en-US" sz="1500" dirty="0">
                <a:solidFill>
                  <a:schemeClr val="tx1"/>
                </a:solidFill>
              </a:rPr>
              <a:t>Delays have a long right tail: a few flights are hours late</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chemeClr val="tx1"/>
                </a:solidFill>
              </a:rPr>
              <a:t>Delays build up through the day</a:t>
            </a:r>
            <a:endParaRPr lang="en-US" sz="3600" dirty="0"/>
          </a:p>
        </p:txBody>
      </p:sp>
      <p:pic>
        <p:nvPicPr>
          <p:cNvPr id="3" name="delay_by_time.png" descr="Delay rate by month, day of week and scheduled departure hour">    </p:cNvPr>
          <p:cNvPicPr>
            <a:picLocks noChangeAspect="1"/>
          </p:cNvPicPr>
          <p:nvPr/>
        </p:nvPicPr>
        <p:blipFill>
          <a:blip r:embed="rId1"/>
          <a:stretch>
            <a:fillRect/>
          </a:stretch>
        </p:blipFill>
        <p:spPr>
          <a:xfrm>
            <a:off x="548640" y="1234440"/>
            <a:ext cx="11094415" cy="2773604"/>
          </a:xfrm>
          <a:prstGeom prst="rect">
            <a:avLst/>
          </a:prstGeom>
        </p:spPr>
      </p:pic>
      <p:sp>
        <p:nvSpPr>
          <p:cNvPr id="4" name="Hour of day card"/>
          <p:cNvSpPr/>
          <p:nvPr/>
        </p:nvSpPr>
        <p:spPr>
          <a:xfrm>
            <a:off x="548640" y="4434840"/>
            <a:ext cx="3566160" cy="1325880"/>
          </a:xfrm>
          <a:prstGeom prst="roundRect">
            <a:avLst>
              <a:gd name="adj" fmla="val 8276"/>
            </a:avLst>
          </a:prstGeom>
          <a:solidFill>
            <a:schemeClr val="bg2"/>
          </a:solidFill>
          <a:ln/>
        </p:spPr>
      </p:sp>
      <p:sp>
        <p:nvSpPr>
          <p:cNvPr id="5" name="Hour of day"/>
          <p:cNvSpPr txBox="1"/>
          <p:nvPr/>
        </p:nvSpPr>
        <p:spPr>
          <a:xfrm>
            <a:off x="822960" y="4572000"/>
            <a:ext cx="3017520" cy="109728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Hour of day</a:t>
            </a:r>
            <a:endParaRPr lang="en-US" sz="1800" dirty="0"/>
          </a:p>
          <a:p>
            <a:pPr indent="0" marL="0">
              <a:spcAft>
                <a:spcPts val="400"/>
              </a:spcAft>
              <a:buNone/>
            </a:pPr>
            <a:r>
              <a:rPr lang="en-US" sz="1500" dirty="0">
                <a:solidFill>
                  <a:schemeClr val="tx1"/>
                </a:solidFill>
              </a:rPr>
              <a:t>About 10% of 5 am flights are late, rising to about 37% at 9 pm</a:t>
            </a:r>
            <a:endParaRPr lang="en-US" sz="1800" dirty="0"/>
          </a:p>
        </p:txBody>
      </p:sp>
      <p:sp>
        <p:nvSpPr>
          <p:cNvPr id="6" name="Season card"/>
          <p:cNvSpPr/>
          <p:nvPr/>
        </p:nvSpPr>
        <p:spPr>
          <a:xfrm>
            <a:off x="4297680" y="4434840"/>
            <a:ext cx="3566160" cy="1325880"/>
          </a:xfrm>
          <a:prstGeom prst="roundRect">
            <a:avLst>
              <a:gd name="adj" fmla="val 8276"/>
            </a:avLst>
          </a:prstGeom>
          <a:solidFill>
            <a:schemeClr val="bg2"/>
          </a:solidFill>
          <a:ln/>
        </p:spPr>
      </p:sp>
      <p:sp>
        <p:nvSpPr>
          <p:cNvPr id="7" name="Season"/>
          <p:cNvSpPr txBox="1"/>
          <p:nvPr/>
        </p:nvSpPr>
        <p:spPr>
          <a:xfrm>
            <a:off x="4572000" y="4572000"/>
            <a:ext cx="3017520" cy="109728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Season</a:t>
            </a:r>
            <a:endParaRPr lang="en-US" sz="1800" dirty="0"/>
          </a:p>
          <a:p>
            <a:pPr indent="0" marL="0">
              <a:spcAft>
                <a:spcPts val="400"/>
              </a:spcAft>
              <a:buNone/>
            </a:pPr>
            <a:r>
              <a:rPr lang="en-US" sz="1500" dirty="0">
                <a:solidFill>
                  <a:schemeClr val="tx1"/>
                </a:solidFill>
              </a:rPr>
              <a:t>Dec, Jul and Jun are worst (over 30%); Sep to Nov are calmest (under 20%)</a:t>
            </a:r>
            <a:endParaRPr lang="en-US" sz="1800" dirty="0"/>
          </a:p>
        </p:txBody>
      </p:sp>
      <p:sp>
        <p:nvSpPr>
          <p:cNvPr id="8" name="Day of week card"/>
          <p:cNvSpPr/>
          <p:nvPr/>
        </p:nvSpPr>
        <p:spPr>
          <a:xfrm>
            <a:off x="8046720" y="4434840"/>
            <a:ext cx="3566160" cy="1325880"/>
          </a:xfrm>
          <a:prstGeom prst="roundRect">
            <a:avLst>
              <a:gd name="adj" fmla="val 8276"/>
            </a:avLst>
          </a:prstGeom>
          <a:solidFill>
            <a:schemeClr val="bg2"/>
          </a:solidFill>
          <a:ln/>
        </p:spPr>
      </p:sp>
      <p:sp>
        <p:nvSpPr>
          <p:cNvPr id="9" name="Day of week"/>
          <p:cNvSpPr txBox="1"/>
          <p:nvPr/>
        </p:nvSpPr>
        <p:spPr>
          <a:xfrm>
            <a:off x="8321040" y="4572000"/>
            <a:ext cx="3017520" cy="109728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Day of week</a:t>
            </a:r>
            <a:endParaRPr lang="en-US" sz="1800" dirty="0"/>
          </a:p>
          <a:p>
            <a:pPr indent="0" marL="0">
              <a:spcAft>
                <a:spcPts val="400"/>
              </a:spcAft>
              <a:buNone/>
            </a:pPr>
            <a:r>
              <a:rPr lang="en-US" sz="1500" dirty="0">
                <a:solidFill>
                  <a:schemeClr val="tx1"/>
                </a:solidFill>
              </a:rPr>
              <a:t>Saturday is the best day (about 18% delayed)</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chemeClr val="tx1"/>
                </a:solidFill>
              </a:rPr>
              <a:t>Carrier and airport matter too</a:t>
            </a:r>
            <a:endParaRPr lang="en-US" sz="3600" dirty="0"/>
          </a:p>
        </p:txBody>
      </p:sp>
      <p:pic>
        <p:nvPicPr>
          <p:cNvPr id="3" name="delay_by_carrier_origin.png" descr="Delay rate by carrier and by origin airport">    </p:cNvPr>
          <p:cNvPicPr>
            <a:picLocks noChangeAspect="1"/>
          </p:cNvPicPr>
          <p:nvPr/>
        </p:nvPicPr>
        <p:blipFill>
          <a:blip r:embed="rId1"/>
          <a:stretch>
            <a:fillRect/>
          </a:stretch>
        </p:blipFill>
        <p:spPr>
          <a:xfrm>
            <a:off x="548640" y="1234440"/>
            <a:ext cx="11094415" cy="3169833"/>
          </a:xfrm>
          <a:prstGeom prst="rect">
            <a:avLst/>
          </a:prstGeom>
        </p:spPr>
      </p:pic>
      <p:sp>
        <p:nvSpPr>
          <p:cNvPr id="4" name="Carriers card"/>
          <p:cNvSpPr/>
          <p:nvPr/>
        </p:nvSpPr>
        <p:spPr>
          <a:xfrm>
            <a:off x="548640" y="4709160"/>
            <a:ext cx="3566160" cy="1188720"/>
          </a:xfrm>
          <a:prstGeom prst="roundRect">
            <a:avLst>
              <a:gd name="adj" fmla="val 9231"/>
            </a:avLst>
          </a:prstGeom>
          <a:solidFill>
            <a:schemeClr val="bg2"/>
          </a:solidFill>
          <a:ln/>
        </p:spPr>
      </p:sp>
      <p:sp>
        <p:nvSpPr>
          <p:cNvPr id="5" name="Carriers"/>
          <p:cNvSpPr txBox="1"/>
          <p:nvPr/>
        </p:nvSpPr>
        <p:spPr>
          <a:xfrm>
            <a:off x="822960" y="4846320"/>
            <a:ext cx="3017520" cy="96012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Carriers</a:t>
            </a:r>
            <a:endParaRPr lang="en-US" sz="1800" dirty="0"/>
          </a:p>
          <a:p>
            <a:pPr indent="0" marL="0">
              <a:spcAft>
                <a:spcPts val="400"/>
              </a:spcAft>
              <a:buNone/>
            </a:pPr>
            <a:r>
              <a:rPr lang="en-US" sz="1500" dirty="0">
                <a:solidFill>
                  <a:schemeClr val="tx1"/>
                </a:solidFill>
              </a:rPr>
              <a:t>From 13% delayed (HA) to 39% (F9)</a:t>
            </a:r>
            <a:endParaRPr lang="en-US" sz="1800" dirty="0"/>
          </a:p>
        </p:txBody>
      </p:sp>
      <p:sp>
        <p:nvSpPr>
          <p:cNvPr id="6" name="Airports card"/>
          <p:cNvSpPr/>
          <p:nvPr/>
        </p:nvSpPr>
        <p:spPr>
          <a:xfrm>
            <a:off x="4297680" y="4709160"/>
            <a:ext cx="3566160" cy="1188720"/>
          </a:xfrm>
          <a:prstGeom prst="roundRect">
            <a:avLst>
              <a:gd name="adj" fmla="val 9231"/>
            </a:avLst>
          </a:prstGeom>
          <a:solidFill>
            <a:schemeClr val="bg2"/>
          </a:solidFill>
          <a:ln/>
        </p:spPr>
      </p:sp>
      <p:sp>
        <p:nvSpPr>
          <p:cNvPr id="7" name="Airports"/>
          <p:cNvSpPr txBox="1"/>
          <p:nvPr/>
        </p:nvSpPr>
        <p:spPr>
          <a:xfrm>
            <a:off x="4572000" y="4846320"/>
            <a:ext cx="3017520" cy="96012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Airports</a:t>
            </a:r>
            <a:endParaRPr lang="en-US" sz="1800" dirty="0"/>
          </a:p>
          <a:p>
            <a:pPr indent="0" marL="0">
              <a:spcAft>
                <a:spcPts val="400"/>
              </a:spcAft>
              <a:buNone/>
            </a:pPr>
            <a:r>
              <a:rPr lang="en-US" sz="1500" dirty="0">
                <a:solidFill>
                  <a:schemeClr val="tx1"/>
                </a:solidFill>
              </a:rPr>
              <a:t>EWR is the most delayed of the three (26%)</a:t>
            </a:r>
            <a:endParaRPr lang="en-US" sz="1800" dirty="0"/>
          </a:p>
        </p:txBody>
      </p:sp>
      <p:sp>
        <p:nvSpPr>
          <p:cNvPr id="8" name="What it means card"/>
          <p:cNvSpPr/>
          <p:nvPr/>
        </p:nvSpPr>
        <p:spPr>
          <a:xfrm>
            <a:off x="8046720" y="4709160"/>
            <a:ext cx="3566160" cy="1188720"/>
          </a:xfrm>
          <a:prstGeom prst="roundRect">
            <a:avLst>
              <a:gd name="adj" fmla="val 9231"/>
            </a:avLst>
          </a:prstGeom>
          <a:solidFill>
            <a:schemeClr val="bg2"/>
          </a:solidFill>
          <a:ln/>
        </p:spPr>
      </p:sp>
      <p:sp>
        <p:nvSpPr>
          <p:cNvPr id="9" name="What it means"/>
          <p:cNvSpPr txBox="1"/>
          <p:nvPr/>
        </p:nvSpPr>
        <p:spPr>
          <a:xfrm>
            <a:off x="8321040" y="4846320"/>
            <a:ext cx="3017520" cy="96012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What it means</a:t>
            </a:r>
            <a:endParaRPr lang="en-US" sz="1800" dirty="0"/>
          </a:p>
          <a:p>
            <a:pPr indent="0" marL="0">
              <a:spcAft>
                <a:spcPts val="400"/>
              </a:spcAft>
              <a:buNone/>
            </a:pPr>
            <a:r>
              <a:rPr lang="en-US" sz="1500" dirty="0">
                <a:solidFill>
                  <a:schemeClr val="tx1"/>
                </a:solidFill>
              </a:rPr>
              <a:t>Carrier, airport and hour are useful features</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chemeClr val="tx1"/>
                </a:solidFill>
              </a:rPr>
              <a:t>No information from after departure</a:t>
            </a:r>
            <a:endParaRPr lang="en-US" sz="3600" dirty="0"/>
          </a:p>
        </p:txBody>
      </p:sp>
      <p:sp>
        <p:nvSpPr>
          <p:cNvPr id="3" name="Decision time circle"/>
          <p:cNvSpPr/>
          <p:nvPr/>
        </p:nvSpPr>
        <p:spPr>
          <a:xfrm>
            <a:off x="548640" y="1280160"/>
            <a:ext cx="640080" cy="640080"/>
          </a:xfrm>
          <a:prstGeom prst="ellipse">
            <a:avLst/>
          </a:prstGeom>
          <a:solidFill>
            <a:schemeClr val="accent1"/>
          </a:solidFill>
          <a:ln/>
        </p:spPr>
      </p:sp>
      <p:pic>
        <p:nvPicPr>
          <p:cNvPr id="4" name="Decision time icon" descr="Decision time icon">    </p:cNvPr>
          <p:cNvPicPr>
            <a:picLocks noChangeAspect="1"/>
          </p:cNvPicPr>
          <p:nvPr/>
        </p:nvPicPr>
        <p:blipFill>
          <a:blip r:embed="rId1"/>
          <a:stretch>
            <a:fillRect/>
          </a:stretch>
        </p:blipFill>
        <p:spPr>
          <a:xfrm>
            <a:off x="702259" y="1433779"/>
            <a:ext cx="332842" cy="332842"/>
          </a:xfrm>
          <a:prstGeom prst="rect">
            <a:avLst/>
          </a:prstGeom>
        </p:spPr>
      </p:pic>
      <p:sp>
        <p:nvSpPr>
          <p:cNvPr id="5" name="Decision text"/>
          <p:cNvSpPr txBox="1"/>
          <p:nvPr/>
        </p:nvSpPr>
        <p:spPr>
          <a:xfrm>
            <a:off x="1417320" y="1280160"/>
            <a:ext cx="10058400" cy="640080"/>
          </a:xfrm>
          <a:prstGeom prst="rect">
            <a:avLst/>
          </a:prstGeom>
          <a:noFill/>
          <a:ln/>
        </p:spPr>
        <p:txBody>
          <a:bodyPr wrap="square" lIns="0" tIns="0" rIns="0" bIns="0" rtlCol="0" anchor="ctr"/>
          <a:lstStyle/>
          <a:p>
            <a:pPr indent="0" marL="0">
              <a:buNone/>
            </a:pPr>
            <a:r>
              <a:rPr lang="en-US" sz="1800" b="1" dirty="0">
                <a:solidFill>
                  <a:schemeClr val="tx1"/>
                </a:solidFill>
              </a:rPr>
              <a:t>Decision time: </a:t>
            </a:r>
            <a:pPr indent="0" marL="0">
              <a:buNone/>
            </a:pPr>
            <a:r>
              <a:rPr lang="en-US" sz="1800" dirty="0">
                <a:solidFill>
                  <a:schemeClr val="tx1"/>
                </a:solidFill>
              </a:rPr>
              <a:t>the morning of the flight day. Every feature must be known by then.</a:t>
            </a:r>
            <a:endParaRPr lang="en-US" sz="1800" dirty="0"/>
          </a:p>
        </p:txBody>
      </p:sp>
      <p:sp>
        <p:nvSpPr>
          <p:cNvPr id="6" name="Removed card"/>
          <p:cNvSpPr/>
          <p:nvPr/>
        </p:nvSpPr>
        <p:spPr>
          <a:xfrm>
            <a:off x="548640" y="2194560"/>
            <a:ext cx="5440680" cy="2697480"/>
          </a:xfrm>
          <a:prstGeom prst="roundRect">
            <a:avLst>
              <a:gd name="adj" fmla="val 4068"/>
            </a:avLst>
          </a:prstGeom>
          <a:solidFill>
            <a:schemeClr val="bg2"/>
          </a:solidFill>
          <a:ln/>
        </p:spPr>
      </p:sp>
      <p:sp>
        <p:nvSpPr>
          <p:cNvPr id="7" name="Removed circle"/>
          <p:cNvSpPr/>
          <p:nvPr/>
        </p:nvSpPr>
        <p:spPr>
          <a:xfrm>
            <a:off x="822960" y="2377440"/>
            <a:ext cx="548640" cy="548640"/>
          </a:xfrm>
          <a:prstGeom prst="ellipse">
            <a:avLst/>
          </a:prstGeom>
          <a:solidFill>
            <a:schemeClr val="accent1"/>
          </a:solidFill>
          <a:ln/>
        </p:spPr>
      </p:sp>
      <p:pic>
        <p:nvPicPr>
          <p:cNvPr id="8" name="Removed icon" descr="Removed icon">    </p:cNvPr>
          <p:cNvPicPr>
            <a:picLocks noChangeAspect="1"/>
          </p:cNvPicPr>
          <p:nvPr/>
        </p:nvPicPr>
        <p:blipFill>
          <a:blip r:embed="rId2"/>
          <a:stretch>
            <a:fillRect/>
          </a:stretch>
        </p:blipFill>
        <p:spPr>
          <a:xfrm>
            <a:off x="954634" y="2509114"/>
            <a:ext cx="285293" cy="285293"/>
          </a:xfrm>
          <a:prstGeom prst="rect">
            <a:avLst/>
          </a:prstGeom>
        </p:spPr>
      </p:pic>
      <p:sp>
        <p:nvSpPr>
          <p:cNvPr id="9" name="Removed (only known after departure)"/>
          <p:cNvSpPr txBox="1"/>
          <p:nvPr/>
        </p:nvSpPr>
        <p:spPr>
          <a:xfrm>
            <a:off x="1554480" y="2423160"/>
            <a:ext cx="4251960" cy="237744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Removed (only known after departure)</a:t>
            </a:r>
            <a:endParaRPr lang="en-US" sz="1800" dirty="0"/>
          </a:p>
          <a:p>
            <a:pPr marL="177800" indent="-177800">
              <a:spcAft>
                <a:spcPts val="400"/>
              </a:spcAft>
              <a:buSzPct val="100000"/>
              <a:buChar char="•"/>
            </a:pPr>
            <a:r>
              <a:rPr lang="en-US" sz="1500" dirty="0">
                <a:solidFill>
                  <a:schemeClr val="tx1"/>
                </a:solidFill>
              </a:rPr>
              <a:t>Actual departure time and delay</a:t>
            </a:r>
            <a:endParaRPr lang="en-US" sz="1800" dirty="0"/>
          </a:p>
          <a:p>
            <a:pPr marL="177800" indent="-177800">
              <a:spcAft>
                <a:spcPts val="400"/>
              </a:spcAft>
              <a:buSzPct val="100000"/>
              <a:buChar char="•"/>
            </a:pPr>
            <a:r>
              <a:rPr lang="en-US" sz="1500" dirty="0">
                <a:solidFill>
                  <a:schemeClr val="tx1"/>
                </a:solidFill>
              </a:rPr>
              <a:t>Actual arrival time and delay (used only for the target)</a:t>
            </a:r>
            <a:endParaRPr lang="en-US" sz="1800" dirty="0"/>
          </a:p>
          <a:p>
            <a:pPr marL="177800" indent="-177800">
              <a:spcAft>
                <a:spcPts val="400"/>
              </a:spcAft>
              <a:buSzPct val="100000"/>
              <a:buChar char="•"/>
            </a:pPr>
            <a:r>
              <a:rPr lang="en-US" sz="1500" dirty="0">
                <a:solidFill>
                  <a:schemeClr val="tx1"/>
                </a:solidFill>
              </a:rPr>
              <a:t>Air time</a:t>
            </a:r>
            <a:endParaRPr lang="en-US" sz="1800" dirty="0"/>
          </a:p>
          <a:p>
            <a:pPr marL="177800" indent="-177800">
              <a:spcAft>
                <a:spcPts val="400"/>
              </a:spcAft>
              <a:buSzPct val="100000"/>
              <a:buChar char="•"/>
            </a:pPr>
            <a:r>
              <a:rPr lang="en-US" sz="1500" dirty="0">
                <a:solidFill>
                  <a:schemeClr val="tx1"/>
                </a:solidFill>
              </a:rPr>
              <a:t>Tail number and flight number (IDs)</a:t>
            </a:r>
            <a:endParaRPr lang="en-US" sz="1800" dirty="0"/>
          </a:p>
        </p:txBody>
      </p:sp>
      <p:sp>
        <p:nvSpPr>
          <p:cNvPr id="10" name="Kept card"/>
          <p:cNvSpPr/>
          <p:nvPr/>
        </p:nvSpPr>
        <p:spPr>
          <a:xfrm>
            <a:off x="6172200" y="2194560"/>
            <a:ext cx="5440680" cy="2697480"/>
          </a:xfrm>
          <a:prstGeom prst="roundRect">
            <a:avLst>
              <a:gd name="adj" fmla="val 4068"/>
            </a:avLst>
          </a:prstGeom>
          <a:solidFill>
            <a:schemeClr val="bg2"/>
          </a:solidFill>
          <a:ln/>
        </p:spPr>
      </p:sp>
      <p:sp>
        <p:nvSpPr>
          <p:cNvPr id="11" name="Kept circle"/>
          <p:cNvSpPr/>
          <p:nvPr/>
        </p:nvSpPr>
        <p:spPr>
          <a:xfrm>
            <a:off x="6446520" y="2377440"/>
            <a:ext cx="548640" cy="548640"/>
          </a:xfrm>
          <a:prstGeom prst="ellipse">
            <a:avLst/>
          </a:prstGeom>
          <a:solidFill>
            <a:schemeClr val="accent1"/>
          </a:solidFill>
          <a:ln/>
        </p:spPr>
      </p:sp>
      <p:pic>
        <p:nvPicPr>
          <p:cNvPr id="12" name="Kept icon" descr="Kept icon">    </p:cNvPr>
          <p:cNvPicPr>
            <a:picLocks noChangeAspect="1"/>
          </p:cNvPicPr>
          <p:nvPr/>
        </p:nvPicPr>
        <p:blipFill>
          <a:blip r:embed="rId3"/>
          <a:stretch>
            <a:fillRect/>
          </a:stretch>
        </p:blipFill>
        <p:spPr>
          <a:xfrm>
            <a:off x="6578194" y="2509114"/>
            <a:ext cx="285293" cy="285293"/>
          </a:xfrm>
          <a:prstGeom prst="rect">
            <a:avLst/>
          </a:prstGeom>
        </p:spPr>
      </p:pic>
      <p:sp>
        <p:nvSpPr>
          <p:cNvPr id="13" name="Kept (known in advance)"/>
          <p:cNvSpPr txBox="1"/>
          <p:nvPr/>
        </p:nvSpPr>
        <p:spPr>
          <a:xfrm>
            <a:off x="7178040" y="2423160"/>
            <a:ext cx="4251960" cy="237744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Kept (known in advance)</a:t>
            </a:r>
            <a:endParaRPr lang="en-US" sz="1800" dirty="0"/>
          </a:p>
          <a:p>
            <a:pPr marL="177800" indent="-177800">
              <a:spcAft>
                <a:spcPts val="400"/>
              </a:spcAft>
              <a:buSzPct val="100000"/>
              <a:buChar char="•"/>
            </a:pPr>
            <a:r>
              <a:rPr lang="en-US" sz="1500" dirty="0">
                <a:solidFill>
                  <a:schemeClr val="tx1"/>
                </a:solidFill>
              </a:rPr>
              <a:t>Date, scheduled departure and arrival time</a:t>
            </a:r>
            <a:endParaRPr lang="en-US" sz="1800" dirty="0"/>
          </a:p>
          <a:p>
            <a:pPr marL="177800" indent="-177800">
              <a:spcAft>
                <a:spcPts val="400"/>
              </a:spcAft>
              <a:buSzPct val="100000"/>
              <a:buChar char="•"/>
            </a:pPr>
            <a:r>
              <a:rPr lang="en-US" sz="1500" dirty="0">
                <a:solidFill>
                  <a:schemeClr val="tx1"/>
                </a:solidFill>
              </a:rPr>
              <a:t>Carrier, origin, destination, distance</a:t>
            </a:r>
            <a:endParaRPr lang="en-US" sz="1800" dirty="0"/>
          </a:p>
          <a:p>
            <a:pPr marL="177800" indent="-177800">
              <a:spcAft>
                <a:spcPts val="400"/>
              </a:spcAft>
              <a:buSzPct val="100000"/>
              <a:buChar char="•"/>
            </a:pPr>
            <a:r>
              <a:rPr lang="en-US" sz="1500" dirty="0">
                <a:solidFill>
                  <a:schemeClr val="tx1"/>
                </a:solidFill>
              </a:rPr>
              <a:t>The published schedule of all flights</a:t>
            </a:r>
            <a:endParaRPr lang="en-US" sz="1800" dirty="0"/>
          </a:p>
          <a:p>
            <a:pPr marL="177800" indent="-177800">
              <a:spcAft>
                <a:spcPts val="400"/>
              </a:spcAft>
              <a:buSzPct val="100000"/>
              <a:buChar char="•"/>
            </a:pPr>
            <a:r>
              <a:rPr lang="en-US" sz="1500" dirty="0">
                <a:solidFill>
                  <a:schemeClr val="tx1"/>
                </a:solidFill>
              </a:rPr>
              <a:t>Outcomes of past days only</a:t>
            </a:r>
            <a:endParaRPr lang="en-US" sz="1800" dirty="0"/>
          </a:p>
        </p:txBody>
      </p:sp>
      <p:sp>
        <p:nvSpPr>
          <p:cNvPr id="14" name="Congestion note card"/>
          <p:cNvSpPr/>
          <p:nvPr/>
        </p:nvSpPr>
        <p:spPr>
          <a:xfrm>
            <a:off x="548640" y="5120640"/>
            <a:ext cx="11094415" cy="1051560"/>
          </a:xfrm>
          <a:prstGeom prst="roundRect">
            <a:avLst>
              <a:gd name="adj" fmla="val 10435"/>
            </a:avLst>
          </a:prstGeom>
          <a:solidFill>
            <a:schemeClr val="bg2"/>
          </a:solidFill>
          <a:ln/>
        </p:spPr>
      </p:sp>
      <p:sp>
        <p:nvSpPr>
          <p:cNvPr id="15" name="Congestion note circle"/>
          <p:cNvSpPr/>
          <p:nvPr/>
        </p:nvSpPr>
        <p:spPr>
          <a:xfrm>
            <a:off x="822960" y="5321808"/>
            <a:ext cx="640080" cy="640080"/>
          </a:xfrm>
          <a:prstGeom prst="ellipse">
            <a:avLst/>
          </a:prstGeom>
          <a:solidFill>
            <a:schemeClr val="accent1"/>
          </a:solidFill>
          <a:ln/>
        </p:spPr>
      </p:sp>
      <p:pic>
        <p:nvPicPr>
          <p:cNvPr id="16" name="Congestion note icon" descr="Congestion note icon">    </p:cNvPr>
          <p:cNvPicPr>
            <a:picLocks noChangeAspect="1"/>
          </p:cNvPicPr>
          <p:nvPr/>
        </p:nvPicPr>
        <p:blipFill>
          <a:blip r:embed="rId4"/>
          <a:stretch>
            <a:fillRect/>
          </a:stretch>
        </p:blipFill>
        <p:spPr>
          <a:xfrm>
            <a:off x="976579" y="5475427"/>
            <a:ext cx="332842" cy="332842"/>
          </a:xfrm>
          <a:prstGeom prst="rect">
            <a:avLst/>
          </a:prstGeom>
        </p:spPr>
      </p:pic>
      <p:sp>
        <p:nvSpPr>
          <p:cNvPr id="17" name="Congestion note text"/>
          <p:cNvSpPr txBox="1"/>
          <p:nvPr/>
        </p:nvSpPr>
        <p:spPr>
          <a:xfrm>
            <a:off x="1691640" y="5212080"/>
            <a:ext cx="9722815" cy="868680"/>
          </a:xfrm>
          <a:prstGeom prst="rect">
            <a:avLst/>
          </a:prstGeom>
          <a:noFill/>
          <a:ln/>
        </p:spPr>
        <p:txBody>
          <a:bodyPr wrap="square" lIns="0" tIns="0" rIns="0" bIns="0" rtlCol="0" anchor="ctr"/>
          <a:lstStyle/>
          <a:p>
            <a:pPr indent="0" marL="0">
              <a:buNone/>
            </a:pPr>
            <a:r>
              <a:rPr lang="en-US" sz="1500" dirty="0">
                <a:solidFill>
                  <a:schemeClr val="tx1"/>
                </a:solidFill>
              </a:rPr>
              <a:t>Congestion counts use the full schedule, including flights that were later cancelled. Counting only completed flights would leak the weather: bad days have many cancellations.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chemeClr val="tx1"/>
                </a:solidFill>
              </a:rPr>
              <a:t>Four groups of pre-departure features</a:t>
            </a:r>
            <a:endParaRPr lang="en-US" sz="3600" dirty="0"/>
          </a:p>
        </p:txBody>
      </p:sp>
      <p:sp>
        <p:nvSpPr>
          <p:cNvPr id="3" name="Calendar and schedule card"/>
          <p:cNvSpPr/>
          <p:nvPr/>
        </p:nvSpPr>
        <p:spPr>
          <a:xfrm>
            <a:off x="548640" y="1325880"/>
            <a:ext cx="5440680" cy="1874520"/>
          </a:xfrm>
          <a:prstGeom prst="roundRect">
            <a:avLst>
              <a:gd name="adj" fmla="val 5854"/>
            </a:avLst>
          </a:prstGeom>
          <a:solidFill>
            <a:schemeClr val="bg2"/>
          </a:solidFill>
          <a:ln/>
        </p:spPr>
      </p:sp>
      <p:sp>
        <p:nvSpPr>
          <p:cNvPr id="4" name="Calendar and schedule circle"/>
          <p:cNvSpPr/>
          <p:nvPr/>
        </p:nvSpPr>
        <p:spPr>
          <a:xfrm>
            <a:off x="822960" y="1600200"/>
            <a:ext cx="731520" cy="731520"/>
          </a:xfrm>
          <a:prstGeom prst="ellipse">
            <a:avLst/>
          </a:prstGeom>
          <a:solidFill>
            <a:schemeClr val="accent1"/>
          </a:solidFill>
          <a:ln/>
        </p:spPr>
      </p:sp>
      <p:pic>
        <p:nvPicPr>
          <p:cNvPr id="5" name="Calendar and schedule icon" descr="Calendar and schedule icon">    </p:cNvPr>
          <p:cNvPicPr>
            <a:picLocks noChangeAspect="1"/>
          </p:cNvPicPr>
          <p:nvPr/>
        </p:nvPicPr>
        <p:blipFill>
          <a:blip r:embed="rId1"/>
          <a:stretch>
            <a:fillRect/>
          </a:stretch>
        </p:blipFill>
        <p:spPr>
          <a:xfrm>
            <a:off x="998525" y="1775765"/>
            <a:ext cx="380390" cy="380390"/>
          </a:xfrm>
          <a:prstGeom prst="rect">
            <a:avLst/>
          </a:prstGeom>
        </p:spPr>
      </p:pic>
      <p:sp>
        <p:nvSpPr>
          <p:cNvPr id="6" name="Calendar and schedule"/>
          <p:cNvSpPr txBox="1"/>
          <p:nvPr/>
        </p:nvSpPr>
        <p:spPr>
          <a:xfrm>
            <a:off x="1783080" y="1600200"/>
            <a:ext cx="3931920" cy="146304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Calendar and schedule</a:t>
            </a:r>
            <a:endParaRPr lang="en-US" sz="1800" dirty="0"/>
          </a:p>
          <a:p>
            <a:pPr indent="0" marL="0">
              <a:spcAft>
                <a:spcPts val="400"/>
              </a:spcAft>
              <a:buNone/>
            </a:pPr>
            <a:r>
              <a:rPr lang="en-US" sz="1600" dirty="0">
                <a:solidFill>
                  <a:schemeClr val="tx1"/>
                </a:solidFill>
              </a:rPr>
              <a:t>Weekend flag and distance. Hour and day of week use cyclic encoding: sin(2πt/P) and cos(2πt/P), so hour 23 sits next to hour 0</a:t>
            </a:r>
            <a:endParaRPr lang="en-US" sz="1800" dirty="0"/>
          </a:p>
        </p:txBody>
      </p:sp>
      <p:sp>
        <p:nvSpPr>
          <p:cNvPr id="7" name="Airport congestion card"/>
          <p:cNvSpPr/>
          <p:nvPr/>
        </p:nvSpPr>
        <p:spPr>
          <a:xfrm>
            <a:off x="6172200" y="1325880"/>
            <a:ext cx="5440680" cy="1874520"/>
          </a:xfrm>
          <a:prstGeom prst="roundRect">
            <a:avLst>
              <a:gd name="adj" fmla="val 5854"/>
            </a:avLst>
          </a:prstGeom>
          <a:solidFill>
            <a:schemeClr val="bg2"/>
          </a:solidFill>
          <a:ln/>
        </p:spPr>
      </p:sp>
      <p:sp>
        <p:nvSpPr>
          <p:cNvPr id="8" name="Airport congestion circle"/>
          <p:cNvSpPr/>
          <p:nvPr/>
        </p:nvSpPr>
        <p:spPr>
          <a:xfrm>
            <a:off x="6446520" y="1600200"/>
            <a:ext cx="731520" cy="731520"/>
          </a:xfrm>
          <a:prstGeom prst="ellipse">
            <a:avLst/>
          </a:prstGeom>
          <a:solidFill>
            <a:schemeClr val="accent1"/>
          </a:solidFill>
          <a:ln/>
        </p:spPr>
      </p:sp>
      <p:pic>
        <p:nvPicPr>
          <p:cNvPr id="9" name="Airport congestion icon" descr="Airport congestion icon">    </p:cNvPr>
          <p:cNvPicPr>
            <a:picLocks noChangeAspect="1"/>
          </p:cNvPicPr>
          <p:nvPr/>
        </p:nvPicPr>
        <p:blipFill>
          <a:blip r:embed="rId2"/>
          <a:stretch>
            <a:fillRect/>
          </a:stretch>
        </p:blipFill>
        <p:spPr>
          <a:xfrm>
            <a:off x="6622085" y="1775765"/>
            <a:ext cx="380390" cy="380390"/>
          </a:xfrm>
          <a:prstGeom prst="rect">
            <a:avLst/>
          </a:prstGeom>
        </p:spPr>
      </p:pic>
      <p:sp>
        <p:nvSpPr>
          <p:cNvPr id="10" name="Airport congestion"/>
          <p:cNvSpPr txBox="1"/>
          <p:nvPr/>
        </p:nvSpPr>
        <p:spPr>
          <a:xfrm>
            <a:off x="7406640" y="1600200"/>
            <a:ext cx="3931920" cy="146304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Airport congestion</a:t>
            </a:r>
            <a:endParaRPr lang="en-US" sz="1800" dirty="0"/>
          </a:p>
          <a:p>
            <a:pPr indent="0" marL="0">
              <a:spcAft>
                <a:spcPts val="400"/>
              </a:spcAft>
              <a:buNone/>
            </a:pPr>
            <a:r>
              <a:rPr lang="en-US" sz="1600" dirty="0">
                <a:solidFill>
                  <a:schemeClr val="tx1"/>
                </a:solidFill>
              </a:rPr>
              <a:t>Flights scheduled to leave the same airport in the same hour and on the same day</a:t>
            </a:r>
            <a:endParaRPr lang="en-US" sz="1800" dirty="0"/>
          </a:p>
        </p:txBody>
      </p:sp>
      <p:sp>
        <p:nvSpPr>
          <p:cNvPr id="11" name="Recent delay history card"/>
          <p:cNvSpPr/>
          <p:nvPr/>
        </p:nvSpPr>
        <p:spPr>
          <a:xfrm>
            <a:off x="548640" y="3474720"/>
            <a:ext cx="5440680" cy="1874520"/>
          </a:xfrm>
          <a:prstGeom prst="roundRect">
            <a:avLst>
              <a:gd name="adj" fmla="val 5854"/>
            </a:avLst>
          </a:prstGeom>
          <a:solidFill>
            <a:schemeClr val="bg2"/>
          </a:solidFill>
          <a:ln/>
        </p:spPr>
      </p:sp>
      <p:sp>
        <p:nvSpPr>
          <p:cNvPr id="12" name="Recent delay history circle"/>
          <p:cNvSpPr/>
          <p:nvPr/>
        </p:nvSpPr>
        <p:spPr>
          <a:xfrm>
            <a:off x="822960" y="3749040"/>
            <a:ext cx="731520" cy="731520"/>
          </a:xfrm>
          <a:prstGeom prst="ellipse">
            <a:avLst/>
          </a:prstGeom>
          <a:solidFill>
            <a:schemeClr val="accent1"/>
          </a:solidFill>
          <a:ln/>
        </p:spPr>
      </p:sp>
      <p:pic>
        <p:nvPicPr>
          <p:cNvPr id="13" name="Recent delay history icon" descr="Recent delay history icon">    </p:cNvPr>
          <p:cNvPicPr>
            <a:picLocks noChangeAspect="1"/>
          </p:cNvPicPr>
          <p:nvPr/>
        </p:nvPicPr>
        <p:blipFill>
          <a:blip r:embed="rId3"/>
          <a:stretch>
            <a:fillRect/>
          </a:stretch>
        </p:blipFill>
        <p:spPr>
          <a:xfrm>
            <a:off x="998525" y="3924605"/>
            <a:ext cx="380390" cy="380390"/>
          </a:xfrm>
          <a:prstGeom prst="rect">
            <a:avLst/>
          </a:prstGeom>
        </p:spPr>
      </p:pic>
      <p:sp>
        <p:nvSpPr>
          <p:cNvPr id="14" name="Recent delay history"/>
          <p:cNvSpPr txBox="1"/>
          <p:nvPr/>
        </p:nvSpPr>
        <p:spPr>
          <a:xfrm>
            <a:off x="1783080" y="3749040"/>
            <a:ext cx="3931920" cy="146304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Recent delay history</a:t>
            </a:r>
            <a:endParaRPr lang="en-US" sz="1800" dirty="0"/>
          </a:p>
          <a:p>
            <a:pPr indent="0" marL="0">
              <a:spcAft>
                <a:spcPts val="400"/>
              </a:spcAft>
              <a:buNone/>
            </a:pPr>
            <a:r>
              <a:rPr lang="en-US" sz="1600" dirty="0">
                <a:solidFill>
                  <a:schemeClr val="tx1"/>
                </a:solidFill>
              </a:rPr>
              <a:t>Share of delayed flights for the carrier, origin, destination and route over the previous 7 days, today excluded</a:t>
            </a:r>
            <a:endParaRPr lang="en-US" sz="1800" dirty="0"/>
          </a:p>
        </p:txBody>
      </p:sp>
      <p:sp>
        <p:nvSpPr>
          <p:cNvPr id="15" name="Categories and route card"/>
          <p:cNvSpPr/>
          <p:nvPr/>
        </p:nvSpPr>
        <p:spPr>
          <a:xfrm>
            <a:off x="6172200" y="3474720"/>
            <a:ext cx="5440680" cy="1874520"/>
          </a:xfrm>
          <a:prstGeom prst="roundRect">
            <a:avLst>
              <a:gd name="adj" fmla="val 5854"/>
            </a:avLst>
          </a:prstGeom>
          <a:solidFill>
            <a:schemeClr val="bg2"/>
          </a:solidFill>
          <a:ln/>
        </p:spPr>
      </p:sp>
      <p:sp>
        <p:nvSpPr>
          <p:cNvPr id="16" name="Categories and route circle"/>
          <p:cNvSpPr/>
          <p:nvPr/>
        </p:nvSpPr>
        <p:spPr>
          <a:xfrm>
            <a:off x="6446520" y="3749040"/>
            <a:ext cx="731520" cy="731520"/>
          </a:xfrm>
          <a:prstGeom prst="ellipse">
            <a:avLst/>
          </a:prstGeom>
          <a:solidFill>
            <a:schemeClr val="accent1"/>
          </a:solidFill>
          <a:ln/>
        </p:spPr>
      </p:sp>
      <p:pic>
        <p:nvPicPr>
          <p:cNvPr id="17" name="Categories and route icon" descr="Categories and route icon">    </p:cNvPr>
          <p:cNvPicPr>
            <a:picLocks noChangeAspect="1"/>
          </p:cNvPicPr>
          <p:nvPr/>
        </p:nvPicPr>
        <p:blipFill>
          <a:blip r:embed="rId4"/>
          <a:stretch>
            <a:fillRect/>
          </a:stretch>
        </p:blipFill>
        <p:spPr>
          <a:xfrm>
            <a:off x="6622085" y="3924605"/>
            <a:ext cx="380390" cy="380390"/>
          </a:xfrm>
          <a:prstGeom prst="rect">
            <a:avLst/>
          </a:prstGeom>
        </p:spPr>
      </p:pic>
      <p:sp>
        <p:nvSpPr>
          <p:cNvPr id="18" name="Categories and route"/>
          <p:cNvSpPr txBox="1"/>
          <p:nvPr/>
        </p:nvSpPr>
        <p:spPr>
          <a:xfrm>
            <a:off x="7406640" y="3749040"/>
            <a:ext cx="3931920" cy="146304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Categories and route</a:t>
            </a:r>
            <a:endParaRPr lang="en-US" sz="1800" dirty="0"/>
          </a:p>
          <a:p>
            <a:pPr indent="0" marL="0">
              <a:spcAft>
                <a:spcPts val="400"/>
              </a:spcAft>
              <a:buNone/>
            </a:pPr>
            <a:r>
              <a:rPr lang="en-US" sz="1600" dirty="0">
                <a:solidFill>
                  <a:schemeClr val="tx1"/>
                </a:solidFill>
              </a:rPr>
              <a:t>Carrier, origin and destination one-hot encoded; route = origin and destination pair (223 routes)</a:t>
            </a:r>
            <a:endParaRPr lang="en-US" sz="1800" dirty="0"/>
          </a:p>
        </p:txBody>
      </p:sp>
      <p:sp>
        <p:nvSpPr>
          <p:cNvPr id="19" name="Month note"/>
          <p:cNvSpPr txBox="1"/>
          <p:nvPr/>
        </p:nvSpPr>
        <p:spPr>
          <a:xfrm>
            <a:off x="548640" y="5486400"/>
            <a:ext cx="11094415" cy="365760"/>
          </a:xfrm>
          <a:prstGeom prst="rect">
            <a:avLst/>
          </a:prstGeom>
          <a:noFill/>
          <a:ln/>
        </p:spPr>
        <p:txBody>
          <a:bodyPr wrap="square" lIns="0" tIns="0" rIns="0" bIns="0" rtlCol="0" anchor="ctr"/>
          <a:lstStyle/>
          <a:p>
            <a:pPr indent="0" marL="0">
              <a:buNone/>
            </a:pPr>
            <a:r>
              <a:rPr lang="en-US" sz="1500" i="1" dirty="0">
                <a:solidFill>
                  <a:schemeClr val="accent3"/>
                </a:solidFill>
              </a:rPr>
              <a:t>Month is left out on purpose: the test months (Nov to Dec) never appear in training.</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chemeClr val="tx1"/>
                </a:solidFill>
              </a:rPr>
              <a:t>Split by date, not at random</a:t>
            </a:r>
            <a:endParaRPr lang="en-US" sz="3600" dirty="0"/>
          </a:p>
        </p:txBody>
      </p:sp>
      <p:sp>
        <p:nvSpPr>
          <p:cNvPr id="3" name="Train block"/>
          <p:cNvSpPr/>
          <p:nvPr/>
        </p:nvSpPr>
        <p:spPr>
          <a:xfrm>
            <a:off x="548640" y="1371600"/>
            <a:ext cx="7350557" cy="1234440"/>
          </a:xfrm>
          <a:prstGeom prst="rect">
            <a:avLst/>
          </a:prstGeom>
          <a:solidFill>
            <a:schemeClr val="tx1"/>
          </a:solidFill>
          <a:ln/>
        </p:spPr>
      </p:sp>
      <p:sp>
        <p:nvSpPr>
          <p:cNvPr id="4" name="Train label"/>
          <p:cNvSpPr txBox="1"/>
          <p:nvPr/>
        </p:nvSpPr>
        <p:spPr>
          <a:xfrm>
            <a:off x="685800" y="1371600"/>
            <a:ext cx="7121957" cy="1234440"/>
          </a:xfrm>
          <a:prstGeom prst="rect">
            <a:avLst/>
          </a:prstGeom>
          <a:noFill/>
          <a:ln/>
        </p:spPr>
        <p:txBody>
          <a:bodyPr wrap="square" lIns="0" tIns="0" rIns="0" bIns="0" rtlCol="0" anchor="ctr"/>
          <a:lstStyle/>
          <a:p>
            <a:pPr indent="0" marL="0">
              <a:buNone/>
            </a:pPr>
            <a:r>
              <a:rPr lang="en-US" sz="1600" b="1" dirty="0">
                <a:solidFill>
                  <a:schemeClr val="bg1"/>
                </a:solidFill>
              </a:rPr>
              <a:t>Train</a:t>
            </a:r>
            <a:endParaRPr lang="en-US" sz="1600" dirty="0"/>
          </a:p>
          <a:p>
            <a:pPr indent="0" marL="0">
              <a:buNone/>
            </a:pPr>
            <a:r>
              <a:rPr lang="en-US" sz="1400" dirty="0">
                <a:solidFill>
                  <a:schemeClr val="bg1"/>
                </a:solidFill>
              </a:rPr>
              <a:t>Jan to Aug</a:t>
            </a:r>
            <a:endParaRPr lang="en-US" sz="1600" dirty="0"/>
          </a:p>
          <a:p>
            <a:pPr indent="0" marL="0">
              <a:buNone/>
            </a:pPr>
            <a:r>
              <a:rPr lang="en-US" sz="1400" dirty="0">
                <a:solidFill>
                  <a:schemeClr val="bg1"/>
                </a:solidFill>
              </a:rPr>
              <a:t>217,727 flights  ·  26.4% delayed</a:t>
            </a:r>
            <a:endParaRPr lang="en-US" sz="1600" dirty="0"/>
          </a:p>
        </p:txBody>
      </p:sp>
      <p:sp>
        <p:nvSpPr>
          <p:cNvPr id="5" name="Validation block"/>
          <p:cNvSpPr/>
          <p:nvPr/>
        </p:nvSpPr>
        <p:spPr>
          <a:xfrm>
            <a:off x="7944917" y="1371600"/>
            <a:ext cx="1803349" cy="1234440"/>
          </a:xfrm>
          <a:prstGeom prst="rect">
            <a:avLst/>
          </a:prstGeom>
          <a:solidFill>
            <a:schemeClr val="accent3"/>
          </a:solidFill>
          <a:ln/>
        </p:spPr>
      </p:sp>
      <p:sp>
        <p:nvSpPr>
          <p:cNvPr id="6" name="Validation label"/>
          <p:cNvSpPr txBox="1"/>
          <p:nvPr/>
        </p:nvSpPr>
        <p:spPr>
          <a:xfrm>
            <a:off x="8082077" y="1371600"/>
            <a:ext cx="1574749" cy="1234440"/>
          </a:xfrm>
          <a:prstGeom prst="rect">
            <a:avLst/>
          </a:prstGeom>
          <a:noFill/>
          <a:ln/>
        </p:spPr>
        <p:txBody>
          <a:bodyPr wrap="square" lIns="0" tIns="0" rIns="0" bIns="0" rtlCol="0" anchor="ctr"/>
          <a:lstStyle/>
          <a:p>
            <a:pPr indent="0" marL="0">
              <a:buNone/>
            </a:pPr>
            <a:r>
              <a:rPr lang="en-US" sz="1600" b="1" dirty="0">
                <a:solidFill>
                  <a:schemeClr val="bg1"/>
                </a:solidFill>
              </a:rPr>
              <a:t>Validation</a:t>
            </a:r>
            <a:endParaRPr lang="en-US" sz="1600" dirty="0"/>
          </a:p>
          <a:p>
            <a:pPr indent="0" marL="0">
              <a:buNone/>
            </a:pPr>
            <a:r>
              <a:rPr lang="en-US" sz="1400" dirty="0">
                <a:solidFill>
                  <a:schemeClr val="bg1"/>
                </a:solidFill>
              </a:rPr>
              <a:t>Sep to Oct</a:t>
            </a:r>
            <a:endParaRPr lang="en-US" sz="1600" dirty="0"/>
          </a:p>
          <a:p>
            <a:pPr indent="0" marL="0">
              <a:buNone/>
            </a:pPr>
            <a:r>
              <a:rPr lang="en-US" sz="1400" dirty="0">
                <a:solidFill>
                  <a:schemeClr val="bg1"/>
                </a:solidFill>
              </a:rPr>
              <a:t>55,628  ·  15.7%</a:t>
            </a:r>
            <a:endParaRPr lang="en-US" sz="1600" dirty="0"/>
          </a:p>
        </p:txBody>
      </p:sp>
      <p:sp>
        <p:nvSpPr>
          <p:cNvPr id="7" name="Test block"/>
          <p:cNvSpPr/>
          <p:nvPr/>
        </p:nvSpPr>
        <p:spPr>
          <a:xfrm>
            <a:off x="9793986" y="1371600"/>
            <a:ext cx="1803349" cy="1234440"/>
          </a:xfrm>
          <a:prstGeom prst="rect">
            <a:avLst/>
          </a:prstGeom>
          <a:solidFill>
            <a:schemeClr val="accent1"/>
          </a:solidFill>
          <a:ln/>
        </p:spPr>
      </p:sp>
      <p:sp>
        <p:nvSpPr>
          <p:cNvPr id="8" name="Test label"/>
          <p:cNvSpPr txBox="1"/>
          <p:nvPr/>
        </p:nvSpPr>
        <p:spPr>
          <a:xfrm>
            <a:off x="9931146" y="1371600"/>
            <a:ext cx="1574749" cy="1234440"/>
          </a:xfrm>
          <a:prstGeom prst="rect">
            <a:avLst/>
          </a:prstGeom>
          <a:noFill/>
          <a:ln/>
        </p:spPr>
        <p:txBody>
          <a:bodyPr wrap="square" lIns="0" tIns="0" rIns="0" bIns="0" rtlCol="0" anchor="ctr"/>
          <a:lstStyle/>
          <a:p>
            <a:pPr indent="0" marL="0">
              <a:buNone/>
            </a:pPr>
            <a:r>
              <a:rPr lang="en-US" sz="1600" b="1" dirty="0">
                <a:solidFill>
                  <a:schemeClr val="tx1"/>
                </a:solidFill>
              </a:rPr>
              <a:t>Test</a:t>
            </a:r>
            <a:endParaRPr lang="en-US" sz="1600" dirty="0"/>
          </a:p>
          <a:p>
            <a:pPr indent="0" marL="0">
              <a:buNone/>
            </a:pPr>
            <a:r>
              <a:rPr lang="en-US" sz="1400" dirty="0">
                <a:solidFill>
                  <a:schemeClr val="tx1"/>
                </a:solidFill>
              </a:rPr>
              <a:t>Nov to Dec</a:t>
            </a:r>
            <a:endParaRPr lang="en-US" sz="1600" dirty="0"/>
          </a:p>
          <a:p>
            <a:pPr indent="0" marL="0">
              <a:buNone/>
            </a:pPr>
            <a:r>
              <a:rPr lang="en-US" sz="1400" dirty="0">
                <a:solidFill>
                  <a:schemeClr val="tx1"/>
                </a:solidFill>
              </a:rPr>
              <a:t>53,991  ·  25.8%</a:t>
            </a:r>
            <a:endParaRPr lang="en-US" sz="1600" dirty="0"/>
          </a:p>
        </p:txBody>
      </p:sp>
      <p:sp>
        <p:nvSpPr>
          <p:cNvPr id="9" name="Folds header"/>
          <p:cNvSpPr txBox="1"/>
          <p:nvPr/>
        </p:nvSpPr>
        <p:spPr>
          <a:xfrm>
            <a:off x="548640" y="2971800"/>
            <a:ext cx="11094415" cy="411480"/>
          </a:xfrm>
          <a:prstGeom prst="rect">
            <a:avLst/>
          </a:prstGeom>
          <a:noFill/>
          <a:ln/>
        </p:spPr>
        <p:txBody>
          <a:bodyPr wrap="square" lIns="0" tIns="0" rIns="0" bIns="0" rtlCol="0" anchor="ctr"/>
          <a:lstStyle/>
          <a:p>
            <a:pPr indent="0" marL="0">
              <a:buNone/>
            </a:pPr>
            <a:r>
              <a:rPr lang="en-US" sz="1800" b="1" dirty="0">
                <a:solidFill>
                  <a:schemeClr val="tx1"/>
                </a:solidFill>
              </a:rPr>
              <a:t>XGBoost tuning: expanding-window time-series folds</a:t>
            </a:r>
            <a:endParaRPr lang="en-US" sz="1800" dirty="0"/>
          </a:p>
        </p:txBody>
      </p:sp>
      <p:sp>
        <p:nvSpPr>
          <p:cNvPr id="10" name="Fold 1 train"/>
          <p:cNvSpPr/>
          <p:nvPr/>
        </p:nvSpPr>
        <p:spPr>
          <a:xfrm>
            <a:off x="548640" y="3520440"/>
            <a:ext cx="3652418" cy="502920"/>
          </a:xfrm>
          <a:prstGeom prst="rect">
            <a:avLst/>
          </a:prstGeom>
          <a:solidFill>
            <a:schemeClr val="bg2"/>
          </a:solidFill>
          <a:ln/>
        </p:spPr>
      </p:sp>
      <p:sp>
        <p:nvSpPr>
          <p:cNvPr id="11" name="Fold 1 train label"/>
          <p:cNvSpPr txBox="1"/>
          <p:nvPr/>
        </p:nvSpPr>
        <p:spPr>
          <a:xfrm>
            <a:off x="685800" y="3520440"/>
            <a:ext cx="3423818" cy="502920"/>
          </a:xfrm>
          <a:prstGeom prst="rect">
            <a:avLst/>
          </a:prstGeom>
          <a:noFill/>
          <a:ln/>
        </p:spPr>
        <p:txBody>
          <a:bodyPr wrap="square" lIns="0" tIns="0" rIns="0" bIns="0" rtlCol="0" anchor="ctr"/>
          <a:lstStyle/>
          <a:p>
            <a:pPr indent="0" marL="0">
              <a:buNone/>
            </a:pPr>
            <a:r>
              <a:rPr lang="en-US" sz="1400" dirty="0">
                <a:solidFill>
                  <a:schemeClr val="tx1"/>
                </a:solidFill>
              </a:rPr>
              <a:t>Fold 1: train Jan to Apr</a:t>
            </a:r>
            <a:endParaRPr lang="en-US" sz="1400" dirty="0"/>
          </a:p>
        </p:txBody>
      </p:sp>
      <p:sp>
        <p:nvSpPr>
          <p:cNvPr id="12" name="Fold 1 val"/>
          <p:cNvSpPr/>
          <p:nvPr/>
        </p:nvSpPr>
        <p:spPr>
          <a:xfrm>
            <a:off x="4246778" y="3520440"/>
            <a:ext cx="1803349" cy="502920"/>
          </a:xfrm>
          <a:prstGeom prst="rect">
            <a:avLst/>
          </a:prstGeom>
          <a:solidFill>
            <a:schemeClr val="accent4"/>
          </a:solidFill>
          <a:ln/>
        </p:spPr>
      </p:sp>
      <p:sp>
        <p:nvSpPr>
          <p:cNvPr id="13" name="Fold 1 val label"/>
          <p:cNvSpPr txBox="1"/>
          <p:nvPr/>
        </p:nvSpPr>
        <p:spPr>
          <a:xfrm>
            <a:off x="4338218" y="3520440"/>
            <a:ext cx="1666189" cy="502920"/>
          </a:xfrm>
          <a:prstGeom prst="rect">
            <a:avLst/>
          </a:prstGeom>
          <a:noFill/>
          <a:ln/>
        </p:spPr>
        <p:txBody>
          <a:bodyPr wrap="square" lIns="0" tIns="0" rIns="0" bIns="0" rtlCol="0" anchor="ctr"/>
          <a:lstStyle/>
          <a:p>
            <a:pPr indent="0" marL="0">
              <a:buNone/>
            </a:pPr>
            <a:r>
              <a:rPr lang="en-US" sz="1400" dirty="0">
                <a:solidFill>
                  <a:schemeClr val="tx1"/>
                </a:solidFill>
              </a:rPr>
              <a:t>May to Jun</a:t>
            </a:r>
            <a:endParaRPr lang="en-US" sz="1400" dirty="0"/>
          </a:p>
        </p:txBody>
      </p:sp>
      <p:sp>
        <p:nvSpPr>
          <p:cNvPr id="14" name="Fold 2 train"/>
          <p:cNvSpPr/>
          <p:nvPr/>
        </p:nvSpPr>
        <p:spPr>
          <a:xfrm>
            <a:off x="548640" y="4160520"/>
            <a:ext cx="5501488" cy="502920"/>
          </a:xfrm>
          <a:prstGeom prst="rect">
            <a:avLst/>
          </a:prstGeom>
          <a:solidFill>
            <a:schemeClr val="bg2"/>
          </a:solidFill>
          <a:ln/>
        </p:spPr>
      </p:sp>
      <p:sp>
        <p:nvSpPr>
          <p:cNvPr id="15" name="Fold 2 train label"/>
          <p:cNvSpPr txBox="1"/>
          <p:nvPr/>
        </p:nvSpPr>
        <p:spPr>
          <a:xfrm>
            <a:off x="685800" y="4160520"/>
            <a:ext cx="5272888" cy="502920"/>
          </a:xfrm>
          <a:prstGeom prst="rect">
            <a:avLst/>
          </a:prstGeom>
          <a:noFill/>
          <a:ln/>
        </p:spPr>
        <p:txBody>
          <a:bodyPr wrap="square" lIns="0" tIns="0" rIns="0" bIns="0" rtlCol="0" anchor="ctr"/>
          <a:lstStyle/>
          <a:p>
            <a:pPr indent="0" marL="0">
              <a:buNone/>
            </a:pPr>
            <a:r>
              <a:rPr lang="en-US" sz="1400" dirty="0">
                <a:solidFill>
                  <a:schemeClr val="tx1"/>
                </a:solidFill>
              </a:rPr>
              <a:t>Fold 2: train Jan to Jun</a:t>
            </a:r>
            <a:endParaRPr lang="en-US" sz="1400" dirty="0"/>
          </a:p>
        </p:txBody>
      </p:sp>
      <p:sp>
        <p:nvSpPr>
          <p:cNvPr id="16" name="Fold 2 val"/>
          <p:cNvSpPr/>
          <p:nvPr/>
        </p:nvSpPr>
        <p:spPr>
          <a:xfrm>
            <a:off x="6095848" y="4160520"/>
            <a:ext cx="1803349" cy="502920"/>
          </a:xfrm>
          <a:prstGeom prst="rect">
            <a:avLst/>
          </a:prstGeom>
          <a:solidFill>
            <a:schemeClr val="accent4"/>
          </a:solidFill>
          <a:ln/>
        </p:spPr>
      </p:sp>
      <p:sp>
        <p:nvSpPr>
          <p:cNvPr id="17" name="Fold 2 val label"/>
          <p:cNvSpPr txBox="1"/>
          <p:nvPr/>
        </p:nvSpPr>
        <p:spPr>
          <a:xfrm>
            <a:off x="6187288" y="4160520"/>
            <a:ext cx="1666189" cy="502920"/>
          </a:xfrm>
          <a:prstGeom prst="rect">
            <a:avLst/>
          </a:prstGeom>
          <a:noFill/>
          <a:ln/>
        </p:spPr>
        <p:txBody>
          <a:bodyPr wrap="square" lIns="0" tIns="0" rIns="0" bIns="0" rtlCol="0" anchor="ctr"/>
          <a:lstStyle/>
          <a:p>
            <a:pPr indent="0" marL="0">
              <a:buNone/>
            </a:pPr>
            <a:r>
              <a:rPr lang="en-US" sz="1400" dirty="0">
                <a:solidFill>
                  <a:schemeClr val="tx1"/>
                </a:solidFill>
              </a:rPr>
              <a:t>Jul to Aug</a:t>
            </a:r>
            <a:endParaRPr lang="en-US" sz="1400" dirty="0"/>
          </a:p>
        </p:txBody>
      </p:sp>
      <p:sp>
        <p:nvSpPr>
          <p:cNvPr id="18" name="Fold 3 train"/>
          <p:cNvSpPr/>
          <p:nvPr/>
        </p:nvSpPr>
        <p:spPr>
          <a:xfrm>
            <a:off x="548640" y="4800600"/>
            <a:ext cx="7350557" cy="502920"/>
          </a:xfrm>
          <a:prstGeom prst="rect">
            <a:avLst/>
          </a:prstGeom>
          <a:solidFill>
            <a:schemeClr val="bg2"/>
          </a:solidFill>
          <a:ln/>
        </p:spPr>
      </p:sp>
      <p:sp>
        <p:nvSpPr>
          <p:cNvPr id="19" name="Fold 3 train label"/>
          <p:cNvSpPr txBox="1"/>
          <p:nvPr/>
        </p:nvSpPr>
        <p:spPr>
          <a:xfrm>
            <a:off x="685800" y="4800600"/>
            <a:ext cx="7121957" cy="502920"/>
          </a:xfrm>
          <a:prstGeom prst="rect">
            <a:avLst/>
          </a:prstGeom>
          <a:noFill/>
          <a:ln/>
        </p:spPr>
        <p:txBody>
          <a:bodyPr wrap="square" lIns="0" tIns="0" rIns="0" bIns="0" rtlCol="0" anchor="ctr"/>
          <a:lstStyle/>
          <a:p>
            <a:pPr indent="0" marL="0">
              <a:buNone/>
            </a:pPr>
            <a:r>
              <a:rPr lang="en-US" sz="1400" dirty="0">
                <a:solidFill>
                  <a:schemeClr val="tx1"/>
                </a:solidFill>
              </a:rPr>
              <a:t>Fold 3: train Jan to Aug</a:t>
            </a:r>
            <a:endParaRPr lang="en-US" sz="1400" dirty="0"/>
          </a:p>
        </p:txBody>
      </p:sp>
      <p:sp>
        <p:nvSpPr>
          <p:cNvPr id="20" name="Fold 3 val"/>
          <p:cNvSpPr/>
          <p:nvPr/>
        </p:nvSpPr>
        <p:spPr>
          <a:xfrm>
            <a:off x="7944917" y="4800600"/>
            <a:ext cx="1803349" cy="502920"/>
          </a:xfrm>
          <a:prstGeom prst="rect">
            <a:avLst/>
          </a:prstGeom>
          <a:solidFill>
            <a:schemeClr val="accent4"/>
          </a:solidFill>
          <a:ln/>
        </p:spPr>
      </p:sp>
      <p:sp>
        <p:nvSpPr>
          <p:cNvPr id="21" name="Fold 3 val label"/>
          <p:cNvSpPr txBox="1"/>
          <p:nvPr/>
        </p:nvSpPr>
        <p:spPr>
          <a:xfrm>
            <a:off x="8036357" y="4800600"/>
            <a:ext cx="1666189" cy="502920"/>
          </a:xfrm>
          <a:prstGeom prst="rect">
            <a:avLst/>
          </a:prstGeom>
          <a:noFill/>
          <a:ln/>
        </p:spPr>
        <p:txBody>
          <a:bodyPr wrap="square" lIns="0" tIns="0" rIns="0" bIns="0" rtlCol="0" anchor="ctr"/>
          <a:lstStyle/>
          <a:p>
            <a:pPr indent="0" marL="0">
              <a:buNone/>
            </a:pPr>
            <a:r>
              <a:rPr lang="en-US" sz="1400" dirty="0">
                <a:solidFill>
                  <a:schemeClr val="tx1"/>
                </a:solidFill>
              </a:rPr>
              <a:t>Sep to Oct</a:t>
            </a:r>
            <a:endParaRPr lang="en-US" sz="1400" dirty="0"/>
          </a:p>
        </p:txBody>
      </p:sp>
      <p:sp>
        <p:nvSpPr>
          <p:cNvPr id="22" name="Test locked circle"/>
          <p:cNvSpPr/>
          <p:nvPr/>
        </p:nvSpPr>
        <p:spPr>
          <a:xfrm>
            <a:off x="548640" y="5532120"/>
            <a:ext cx="548640" cy="548640"/>
          </a:xfrm>
          <a:prstGeom prst="ellipse">
            <a:avLst/>
          </a:prstGeom>
          <a:solidFill>
            <a:schemeClr val="accent1"/>
          </a:solidFill>
          <a:ln/>
        </p:spPr>
      </p:sp>
      <p:pic>
        <p:nvPicPr>
          <p:cNvPr id="23" name="Test locked icon" descr="Test locked icon">    </p:cNvPr>
          <p:cNvPicPr>
            <a:picLocks noChangeAspect="1"/>
          </p:cNvPicPr>
          <p:nvPr/>
        </p:nvPicPr>
        <p:blipFill>
          <a:blip r:embed="rId1"/>
          <a:stretch>
            <a:fillRect/>
          </a:stretch>
        </p:blipFill>
        <p:spPr>
          <a:xfrm>
            <a:off x="680314" y="5663794"/>
            <a:ext cx="285293" cy="285293"/>
          </a:xfrm>
          <a:prstGeom prst="rect">
            <a:avLst/>
          </a:prstGeom>
        </p:spPr>
      </p:pic>
      <p:sp>
        <p:nvSpPr>
          <p:cNvPr id="24" name="Test note"/>
          <p:cNvSpPr txBox="1"/>
          <p:nvPr/>
        </p:nvSpPr>
        <p:spPr>
          <a:xfrm>
            <a:off x="1325880" y="5532120"/>
            <a:ext cx="10058400" cy="548640"/>
          </a:xfrm>
          <a:prstGeom prst="rect">
            <a:avLst/>
          </a:prstGeom>
          <a:noFill/>
          <a:ln/>
        </p:spPr>
        <p:txBody>
          <a:bodyPr wrap="square" lIns="0" tIns="0" rIns="0" bIns="0" rtlCol="0" anchor="ctr"/>
          <a:lstStyle/>
          <a:p>
            <a:pPr indent="0" marL="0">
              <a:buNone/>
            </a:pPr>
            <a:r>
              <a:rPr lang="en-US" sz="1500" dirty="0">
                <a:solidFill>
                  <a:schemeClr val="tx1"/>
                </a:solidFill>
              </a:rPr>
              <a:t>The test months are never used for tuning. They are used once, for the final results.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chemeClr val="tx1"/>
                </a:solidFill>
              </a:rPr>
              <a:t>A linear baseline and boosted trees</a:t>
            </a:r>
            <a:endParaRPr lang="en-US" sz="3600" dirty="0"/>
          </a:p>
        </p:txBody>
      </p:sp>
      <p:sp>
        <p:nvSpPr>
          <p:cNvPr id="3" name="LR card"/>
          <p:cNvSpPr/>
          <p:nvPr/>
        </p:nvSpPr>
        <p:spPr>
          <a:xfrm>
            <a:off x="548640" y="1280160"/>
            <a:ext cx="3611880" cy="4343400"/>
          </a:xfrm>
          <a:prstGeom prst="roundRect">
            <a:avLst>
              <a:gd name="adj" fmla="val 3038"/>
            </a:avLst>
          </a:prstGeom>
          <a:solidFill>
            <a:schemeClr val="bg2"/>
          </a:solidFill>
          <a:ln/>
        </p:spPr>
      </p:sp>
      <p:sp>
        <p:nvSpPr>
          <p:cNvPr id="4" name="Logistic Regression circle"/>
          <p:cNvSpPr/>
          <p:nvPr/>
        </p:nvSpPr>
        <p:spPr>
          <a:xfrm>
            <a:off x="822960" y="1508760"/>
            <a:ext cx="731520" cy="731520"/>
          </a:xfrm>
          <a:prstGeom prst="ellipse">
            <a:avLst/>
          </a:prstGeom>
          <a:solidFill>
            <a:schemeClr val="accent1"/>
          </a:solidFill>
          <a:ln/>
        </p:spPr>
      </p:sp>
      <p:pic>
        <p:nvPicPr>
          <p:cNvPr id="5" name="Logistic Regression icon" descr="Logistic Regression icon">    </p:cNvPr>
          <p:cNvPicPr>
            <a:picLocks noChangeAspect="1"/>
          </p:cNvPicPr>
          <p:nvPr/>
        </p:nvPicPr>
        <p:blipFill>
          <a:blip r:embed="rId1"/>
          <a:stretch>
            <a:fillRect/>
          </a:stretch>
        </p:blipFill>
        <p:spPr>
          <a:xfrm>
            <a:off x="998525" y="1684325"/>
            <a:ext cx="380390" cy="380390"/>
          </a:xfrm>
          <a:prstGeom prst="rect">
            <a:avLst/>
          </a:prstGeom>
        </p:spPr>
      </p:pic>
      <p:sp>
        <p:nvSpPr>
          <p:cNvPr id="6" name="Logistic Regression"/>
          <p:cNvSpPr txBox="1"/>
          <p:nvPr/>
        </p:nvSpPr>
        <p:spPr>
          <a:xfrm>
            <a:off x="822960" y="2468880"/>
            <a:ext cx="3063240" cy="301752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Logistic Regression</a:t>
            </a:r>
            <a:endParaRPr lang="en-US" sz="1800" dirty="0"/>
          </a:p>
          <a:p>
            <a:pPr marL="177800" indent="-177800">
              <a:spcAft>
                <a:spcPts val="400"/>
              </a:spcAft>
              <a:buSzPct val="100000"/>
              <a:buChar char="•"/>
            </a:pPr>
            <a:r>
              <a:rPr lang="en-US" sz="1500" dirty="0">
                <a:solidFill>
                  <a:schemeClr val="tx1"/>
                </a:solidFill>
              </a:rPr>
              <a:t>P(delay) = σ(w·x + b)</a:t>
            </a:r>
            <a:endParaRPr lang="en-US" sz="1800" dirty="0"/>
          </a:p>
          <a:p>
            <a:pPr marL="177800" indent="-177800">
              <a:spcAft>
                <a:spcPts val="400"/>
              </a:spcAft>
              <a:buSzPct val="100000"/>
              <a:buChar char="•"/>
            </a:pPr>
            <a:r>
              <a:rPr lang="en-US" sz="1500" dirty="0">
                <a:solidFill>
                  <a:schemeClr val="tx1"/>
                </a:solidFill>
              </a:rPr>
              <a:t>L2-regularised log loss</a:t>
            </a:r>
            <a:endParaRPr lang="en-US" sz="1800" dirty="0"/>
          </a:p>
          <a:p>
            <a:pPr marL="177800" indent="-177800">
              <a:spcAft>
                <a:spcPts val="400"/>
              </a:spcAft>
              <a:buSzPct val="100000"/>
              <a:buChar char="•"/>
            </a:pPr>
            <a:r>
              <a:rPr lang="en-US" sz="1500" dirty="0">
                <a:solidFill>
                  <a:schemeClr val="tx1"/>
                </a:solidFill>
              </a:rPr>
              <a:t>Inputs standardised</a:t>
            </a:r>
            <a:endParaRPr lang="en-US" sz="1800" dirty="0"/>
          </a:p>
          <a:p>
            <a:pPr marL="177800" indent="-177800">
              <a:spcAft>
                <a:spcPts val="400"/>
              </a:spcAft>
              <a:buSzPct val="100000"/>
              <a:buChar char="•"/>
            </a:pPr>
            <a:r>
              <a:rPr lang="en-US" sz="1500" dirty="0">
                <a:solidFill>
                  <a:schemeClr val="tx1"/>
                </a:solidFill>
              </a:rPr>
              <a:t>Balanced class weights</a:t>
            </a:r>
            <a:endParaRPr lang="en-US" sz="1800" dirty="0"/>
          </a:p>
          <a:p>
            <a:pPr marL="177800" indent="-177800">
              <a:spcAft>
                <a:spcPts val="400"/>
              </a:spcAft>
              <a:buSzPct val="100000"/>
              <a:buChar char="•"/>
            </a:pPr>
            <a:r>
              <a:rPr lang="en-US" sz="1500" dirty="0">
                <a:solidFill>
                  <a:schemeClr val="tx1"/>
                </a:solidFill>
              </a:rPr>
              <a:t>Simple and interpretable baseline</a:t>
            </a:r>
            <a:endParaRPr lang="en-US" sz="1800" dirty="0"/>
          </a:p>
        </p:txBody>
      </p:sp>
      <p:sp>
        <p:nvSpPr>
          <p:cNvPr id="7" name="XGB card"/>
          <p:cNvSpPr/>
          <p:nvPr/>
        </p:nvSpPr>
        <p:spPr>
          <a:xfrm>
            <a:off x="4343400" y="1280160"/>
            <a:ext cx="3611880" cy="4343400"/>
          </a:xfrm>
          <a:prstGeom prst="roundRect">
            <a:avLst>
              <a:gd name="adj" fmla="val 3038"/>
            </a:avLst>
          </a:prstGeom>
          <a:solidFill>
            <a:schemeClr val="bg2"/>
          </a:solidFill>
          <a:ln/>
        </p:spPr>
      </p:sp>
      <p:sp>
        <p:nvSpPr>
          <p:cNvPr id="8" name="XGBoost circle"/>
          <p:cNvSpPr/>
          <p:nvPr/>
        </p:nvSpPr>
        <p:spPr>
          <a:xfrm>
            <a:off x="4617720" y="1508760"/>
            <a:ext cx="731520" cy="731520"/>
          </a:xfrm>
          <a:prstGeom prst="ellipse">
            <a:avLst/>
          </a:prstGeom>
          <a:solidFill>
            <a:schemeClr val="accent1"/>
          </a:solidFill>
          <a:ln/>
        </p:spPr>
      </p:sp>
      <p:pic>
        <p:nvPicPr>
          <p:cNvPr id="9" name="XGBoost icon" descr="XGBoost icon">    </p:cNvPr>
          <p:cNvPicPr>
            <a:picLocks noChangeAspect="1"/>
          </p:cNvPicPr>
          <p:nvPr/>
        </p:nvPicPr>
        <p:blipFill>
          <a:blip r:embed="rId2"/>
          <a:stretch>
            <a:fillRect/>
          </a:stretch>
        </p:blipFill>
        <p:spPr>
          <a:xfrm>
            <a:off x="4793285" y="1684325"/>
            <a:ext cx="380390" cy="380390"/>
          </a:xfrm>
          <a:prstGeom prst="rect">
            <a:avLst/>
          </a:prstGeom>
        </p:spPr>
      </p:pic>
      <p:sp>
        <p:nvSpPr>
          <p:cNvPr id="10" name="XGBoost"/>
          <p:cNvSpPr txBox="1"/>
          <p:nvPr/>
        </p:nvSpPr>
        <p:spPr>
          <a:xfrm>
            <a:off x="4617720" y="2468880"/>
            <a:ext cx="3063240" cy="301752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XGBoost</a:t>
            </a:r>
            <a:endParaRPr lang="en-US" sz="1800" dirty="0"/>
          </a:p>
          <a:p>
            <a:pPr marL="177800" indent="-177800">
              <a:spcAft>
                <a:spcPts val="400"/>
              </a:spcAft>
              <a:buSzPct val="100000"/>
              <a:buChar char="•"/>
            </a:pPr>
            <a:r>
              <a:rPr lang="en-US" sz="1500" dirty="0">
                <a:solidFill>
                  <a:schemeClr val="tx1"/>
                </a:solidFill>
              </a:rPr>
              <a:t>Sum of small trees, each fixing the errors of the ones before</a:t>
            </a:r>
            <a:endParaRPr lang="en-US" sz="1800" dirty="0"/>
          </a:p>
          <a:p>
            <a:pPr marL="177800" indent="-177800">
              <a:spcAft>
                <a:spcPts val="400"/>
              </a:spcAft>
              <a:buSzPct val="100000"/>
              <a:buChar char="•"/>
            </a:pPr>
            <a:r>
              <a:rPr lang="en-US" sz="1500" dirty="0">
                <a:solidFill>
                  <a:schemeClr val="tx1"/>
                </a:solidFill>
              </a:rPr>
              <a:t>Learns non-linear effects and interactions</a:t>
            </a:r>
            <a:endParaRPr lang="en-US" sz="1800" dirty="0"/>
          </a:p>
          <a:p>
            <a:pPr marL="177800" indent="-177800">
              <a:spcAft>
                <a:spcPts val="400"/>
              </a:spcAft>
              <a:buSzPct val="100000"/>
              <a:buChar char="•"/>
            </a:pPr>
            <a:r>
              <a:rPr lang="en-US" sz="1500" dirty="0">
                <a:solidFill>
                  <a:schemeClr val="tx1"/>
                </a:solidFill>
              </a:rPr>
              <a:t>Learning rate 0.05, subsample 0.8, min child weight 50</a:t>
            </a:r>
            <a:endParaRPr lang="en-US" sz="1800" dirty="0"/>
          </a:p>
          <a:p>
            <a:pPr marL="177800" indent="-177800">
              <a:spcAft>
                <a:spcPts val="400"/>
              </a:spcAft>
              <a:buSzPct val="100000"/>
              <a:buChar char="•"/>
            </a:pPr>
            <a:r>
              <a:rPr lang="en-US" sz="1500" dirty="0">
                <a:solidFill>
                  <a:schemeClr val="tx1"/>
                </a:solidFill>
              </a:rPr>
              <a:t>scale_pos_weight = 2.79 for imbalance</a:t>
            </a:r>
            <a:endParaRPr lang="en-US" sz="1800" dirty="0"/>
          </a:p>
        </p:txBody>
      </p:sp>
      <p:sp>
        <p:nvSpPr>
          <p:cNvPr id="11" name="Tuning header"/>
          <p:cNvSpPr txBox="1"/>
          <p:nvPr/>
        </p:nvSpPr>
        <p:spPr>
          <a:xfrm>
            <a:off x="8138160" y="1280160"/>
            <a:ext cx="3474720" cy="457200"/>
          </a:xfrm>
          <a:prstGeom prst="rect">
            <a:avLst/>
          </a:prstGeom>
          <a:noFill/>
          <a:ln/>
        </p:spPr>
        <p:txBody>
          <a:bodyPr wrap="square" lIns="0" tIns="0" rIns="0" bIns="0" rtlCol="0" anchor="ctr"/>
          <a:lstStyle/>
          <a:p>
            <a:pPr indent="0" marL="0">
              <a:buNone/>
            </a:pPr>
            <a:r>
              <a:rPr lang="en-US" sz="1600" b="1" dirty="0">
                <a:solidFill>
                  <a:schemeClr val="tx1"/>
                </a:solidFill>
              </a:rPr>
              <a:t>Tuning results (mean PR AUC of 3 folds)</a:t>
            </a:r>
            <a:endParaRPr lang="en-US" sz="1600" dirty="0"/>
          </a:p>
        </p:txBody>
      </p:sp>
      <p:graphicFrame>
        <p:nvGraphicFramePr>
          <p:cNvPr id="10" name="Tuning table"/>
          <p:cNvGraphicFramePr>
            <a:graphicFrameLocks noGrp="1"/>
          </p:cNvGraphicFramePr>
          <p:nvPr>
            <p:extLst>
              <p:ext uri="{D42A27DB-BD31-4B8C-83A1-F6EECF244321}">
                <p14:modId xmlns:p14="http://schemas.microsoft.com/office/powerpoint/2010/main" val="1579011935"/>
              </p:ext>
            </p:extLst>
          </p:nvPr>
        </p:nvGraphicFramePr>
        <p:xfrm>
          <a:off x="8138160" y="1828800"/>
          <a:ext cx="3474720" cy="914400"/>
        </p:xfrm>
        <a:graphic>
          <a:graphicData uri="http://schemas.openxmlformats.org/drawingml/2006/table">
            <a:tbl>
              <a:tblPr/>
              <a:tblGrid>
                <a:gridCol w="1097280"/>
                <a:gridCol w="1097280"/>
                <a:gridCol w="1280160"/>
              </a:tblGrid>
              <a:tr h="438912">
                <a:tc>
                  <a:txBody>
                    <a:bodyPr/>
                    <a:lstStyle/>
                    <a:p>
                      <a:pPr algn="ctr" indent="0" marL="0">
                        <a:buNone/>
                      </a:pPr>
                      <a:r>
                        <a:rPr lang="en-US" sz="1500" b="1" dirty="0">
                          <a:solidFill>
                            <a:schemeClr val="bg1"/>
                          </a:solidFill>
                        </a:rPr>
                        <a:t>Depth</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1"/>
                    </a:solidFill>
                  </a:tcPr>
                </a:tc>
                <a:tc>
                  <a:txBody>
                    <a:bodyPr/>
                    <a:lstStyle/>
                    <a:p>
                      <a:pPr algn="ctr" indent="0" marL="0">
                        <a:buNone/>
                      </a:pPr>
                      <a:r>
                        <a:rPr lang="en-US" sz="1500" b="1" dirty="0">
                          <a:solidFill>
                            <a:schemeClr val="bg1"/>
                          </a:solidFill>
                        </a:rPr>
                        <a:t>Trees</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1"/>
                    </a:solidFill>
                  </a:tcPr>
                </a:tc>
                <a:tc>
                  <a:txBody>
                    <a:bodyPr/>
                    <a:lstStyle/>
                    <a:p>
                      <a:pPr algn="ctr" indent="0" marL="0">
                        <a:buNone/>
                      </a:pPr>
                      <a:r>
                        <a:rPr lang="en-US" sz="1500" b="1" dirty="0">
                          <a:solidFill>
                            <a:schemeClr val="bg1"/>
                          </a:solidFill>
                        </a:rPr>
                        <a:t>PR AUC</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1"/>
                    </a:solidFill>
                  </a:tcPr>
                </a:tc>
              </a:tr>
              <a:tr h="438912">
                <a:tc>
                  <a:txBody>
                    <a:bodyPr/>
                    <a:lstStyle/>
                    <a:p>
                      <a:pPr algn="ctr" indent="0" marL="0">
                        <a:buNone/>
                      </a:pPr>
                      <a:r>
                        <a:rPr lang="en-US" sz="1500" b="1" dirty="0">
                          <a:solidFill>
                            <a:schemeClr val="tx1"/>
                          </a:solidFill>
                        </a:rPr>
                        <a:t>3</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tx1"/>
                          </a:solidFill>
                        </a:rPr>
                        <a:t>100</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accent1"/>
                    </a:solidFill>
                  </a:tcPr>
                </a:tc>
                <a:tc>
                  <a:txBody>
                    <a:bodyPr/>
                    <a:lstStyle/>
                    <a:p>
                      <a:pPr algn="ctr" indent="0" marL="0">
                        <a:buNone/>
                      </a:pPr>
                      <a:r>
                        <a:rPr lang="en-US" sz="1500" b="1" dirty="0">
                          <a:solidFill>
                            <a:schemeClr val="tx1"/>
                          </a:solidFill>
                        </a:rPr>
                        <a:t>0.377</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accent1"/>
                    </a:solidFill>
                  </a:tcPr>
                </a:tc>
              </a:tr>
              <a:tr h="438912">
                <a:tc>
                  <a:txBody>
                    <a:bodyPr/>
                    <a:lstStyle/>
                    <a:p>
                      <a:pPr algn="ctr" indent="0" marL="0">
                        <a:buNone/>
                      </a:pPr>
                      <a:r>
                        <a:rPr lang="en-US" sz="1500" dirty="0">
                          <a:solidFill>
                            <a:schemeClr val="tx1"/>
                          </a:solidFill>
                        </a:rPr>
                        <a:t>4</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100</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0.376</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38912">
                <a:tc>
                  <a:txBody>
                    <a:bodyPr/>
                    <a:lstStyle/>
                    <a:p>
                      <a:pPr algn="ctr" indent="0" marL="0">
                        <a:buNone/>
                      </a:pPr>
                      <a:r>
                        <a:rPr lang="en-US" sz="1500" dirty="0">
                          <a:solidFill>
                            <a:schemeClr val="tx1"/>
                          </a:solidFill>
                        </a:rPr>
                        <a:t>6</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100</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0.376</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38912">
                <a:tc>
                  <a:txBody>
                    <a:bodyPr/>
                    <a:lstStyle/>
                    <a:p>
                      <a:pPr algn="ctr" indent="0" marL="0">
                        <a:buNone/>
                      </a:pPr>
                      <a:r>
                        <a:rPr lang="en-US" sz="1500" dirty="0">
                          <a:solidFill>
                            <a:schemeClr val="tx1"/>
                          </a:solidFill>
                        </a:rPr>
                        <a:t>3</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300</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0.370</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38912">
                <a:tc>
                  <a:txBody>
                    <a:bodyPr/>
                    <a:lstStyle/>
                    <a:p>
                      <a:pPr algn="ctr" indent="0" marL="0">
                        <a:buNone/>
                      </a:pPr>
                      <a:r>
                        <a:rPr lang="en-US" sz="1500" dirty="0">
                          <a:solidFill>
                            <a:schemeClr val="tx1"/>
                          </a:solidFill>
                        </a:rPr>
                        <a:t>4</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300</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0.369</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38912">
                <a:tc>
                  <a:txBody>
                    <a:bodyPr/>
                    <a:lstStyle/>
                    <a:p>
                      <a:pPr algn="ctr" indent="0" marL="0">
                        <a:buNone/>
                      </a:pPr>
                      <a:r>
                        <a:rPr lang="en-US" sz="1500" dirty="0">
                          <a:solidFill>
                            <a:schemeClr val="tx1"/>
                          </a:solidFill>
                        </a:rPr>
                        <a:t>6</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300</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0.367</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bl>
          </a:graphicData>
        </a:graphic>
      </p:graphicFrame>
      <p:sp>
        <p:nvSpPr>
          <p:cNvPr id="13" name="Tuning note"/>
          <p:cNvSpPr txBox="1"/>
          <p:nvPr/>
        </p:nvSpPr>
        <p:spPr>
          <a:xfrm>
            <a:off x="8138160" y="5074920"/>
            <a:ext cx="3474720" cy="1005840"/>
          </a:xfrm>
          <a:prstGeom prst="rect">
            <a:avLst/>
          </a:prstGeom>
          <a:noFill/>
          <a:ln/>
        </p:spPr>
        <p:txBody>
          <a:bodyPr wrap="square" lIns="0" tIns="0" rIns="0" bIns="0" rtlCol="0" anchor="t"/>
          <a:lstStyle/>
          <a:p>
            <a:pPr indent="0" marL="0">
              <a:buNone/>
            </a:pPr>
            <a:r>
              <a:rPr lang="en-US" sz="1400" i="1" dirty="0">
                <a:solidFill>
                  <a:schemeClr val="accent3"/>
                </a:solidFill>
              </a:rPr>
              <a:t>Best: depth 3, 100 trees. Bigger models did worse on future months.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chemeClr val="tx1"/>
                </a:solidFill>
              </a:rPr>
              <a:t>XGBoost is the best model on the test set</a:t>
            </a:r>
            <a:endParaRPr lang="en-US" sz="3600" dirty="0"/>
          </a:p>
        </p:txBody>
      </p:sp>
      <p:graphicFrame>
        <p:nvGraphicFramePr>
          <p:cNvPr id="3" name="PR AUC chart" descr=""/>
          <p:cNvGraphicFramePr/>
          <p:nvPr/>
        </p:nvGraphicFramePr>
        <p:xfrm>
          <a:off x="548640" y="1280160"/>
          <a:ext cx="5669280" cy="4846320"/>
        </p:xfrm>
        <a:graphic xmlns:a="http://schemas.openxmlformats.org/drawingml/2006/main">
          <a:graphicData uri="http://schemas.openxmlformats.org/drawingml/2006/chart">
            <c:chart xmlns:c="http://schemas.openxmlformats.org/drawingml/2006/chart" r:id="rId1"/>
          </a:graphicData>
        </a:graphic>
      </p:graphicFrame>
      <p:graphicFrame>
        <p:nvGraphicFramePr>
          <p:cNvPr id="11" name="Results table"/>
          <p:cNvGraphicFramePr>
            <a:graphicFrameLocks noGrp="1"/>
          </p:cNvGraphicFramePr>
          <p:nvPr>
            <p:extLst>
              <p:ext uri="{D42A27DB-BD31-4B8C-83A1-F6EECF244321}">
                <p14:modId xmlns:p14="http://schemas.microsoft.com/office/powerpoint/2010/main" val="1579011935"/>
              </p:ext>
            </p:extLst>
          </p:nvPr>
        </p:nvGraphicFramePr>
        <p:xfrm>
          <a:off x="6629400" y="1371600"/>
          <a:ext cx="5010912" cy="914400"/>
        </p:xfrm>
        <a:graphic>
          <a:graphicData uri="http://schemas.openxmlformats.org/drawingml/2006/table">
            <a:tbl>
              <a:tblPr/>
              <a:tblGrid>
                <a:gridCol w="1554480"/>
                <a:gridCol w="1152144"/>
                <a:gridCol w="1152144"/>
                <a:gridCol w="1152144"/>
              </a:tblGrid>
              <a:tr h="457200">
                <a:tc>
                  <a:txBody>
                    <a:bodyPr/>
                    <a:lstStyle/>
                    <a:p>
                      <a:pPr algn="l" indent="0" marL="0">
                        <a:buNone/>
                      </a:pPr>
                      <a:r>
                        <a:rPr lang="en-US" sz="1500" b="1" dirty="0">
                          <a:solidFill>
                            <a:schemeClr val="bg1"/>
                          </a:solidFill>
                        </a:rPr>
                        <a:t>Model</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1"/>
                    </a:solidFill>
                  </a:tcPr>
                </a:tc>
                <a:tc>
                  <a:txBody>
                    <a:bodyPr/>
                    <a:lstStyle/>
                    <a:p>
                      <a:pPr algn="ctr" indent="0" marL="0">
                        <a:buNone/>
                      </a:pPr>
                      <a:r>
                        <a:rPr lang="en-US" sz="1500" b="1" dirty="0">
                          <a:solidFill>
                            <a:schemeClr val="bg1"/>
                          </a:solidFill>
                        </a:rPr>
                        <a:t>PR AUC</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1"/>
                    </a:solidFill>
                  </a:tcPr>
                </a:tc>
                <a:tc>
                  <a:txBody>
                    <a:bodyPr/>
                    <a:lstStyle/>
                    <a:p>
                      <a:pPr algn="ctr" indent="0" marL="0">
                        <a:buNone/>
                      </a:pPr>
                      <a:r>
                        <a:rPr lang="en-US" sz="1500" b="1" dirty="0">
                          <a:solidFill>
                            <a:schemeClr val="bg1"/>
                          </a:solidFill>
                        </a:rPr>
                        <a:t>ROC AUC</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1"/>
                    </a:solidFill>
                  </a:tcPr>
                </a:tc>
                <a:tc>
                  <a:txBody>
                    <a:bodyPr/>
                    <a:lstStyle/>
                    <a:p>
                      <a:pPr algn="ctr" indent="0" marL="0">
                        <a:buNone/>
                      </a:pPr>
                      <a:r>
                        <a:rPr lang="en-US" sz="1500" b="1" dirty="0">
                          <a:solidFill>
                            <a:schemeClr val="bg1"/>
                          </a:solidFill>
                        </a:rPr>
                        <a:t>Brier</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1"/>
                    </a:solidFill>
                  </a:tcPr>
                </a:tc>
              </a:tr>
              <a:tr h="457200">
                <a:tc>
                  <a:txBody>
                    <a:bodyPr/>
                    <a:lstStyle/>
                    <a:p>
                      <a:pPr algn="l" indent="0" marL="0">
                        <a:buNone/>
                      </a:pPr>
                      <a:r>
                        <a:rPr lang="en-US" sz="1500" dirty="0">
                          <a:solidFill>
                            <a:schemeClr val="tx1"/>
                          </a:solidFill>
                        </a:rPr>
                        <a:t>Random</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0.258</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0.500</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57200">
                <a:tc>
                  <a:txBody>
                    <a:bodyPr/>
                    <a:lstStyle/>
                    <a:p>
                      <a:pPr algn="l" indent="0" marL="0">
                        <a:buNone/>
                      </a:pPr>
                      <a:r>
                        <a:rPr lang="en-US" sz="1500" dirty="0">
                          <a:solidFill>
                            <a:schemeClr val="tx1"/>
                          </a:solidFill>
                        </a:rPr>
                        <a:t>Log. Reg.</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0.376</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0.645</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1500" dirty="0">
                          <a:solidFill>
                            <a:schemeClr val="tx1"/>
                          </a:solidFill>
                        </a:rPr>
                        <a:t>0.228</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57200">
                <a:tc>
                  <a:txBody>
                    <a:bodyPr/>
                    <a:lstStyle/>
                    <a:p>
                      <a:pPr algn="l" indent="0" marL="0">
                        <a:buNone/>
                      </a:pPr>
                      <a:r>
                        <a:rPr lang="en-US" sz="1500" b="1" dirty="0">
                          <a:solidFill>
                            <a:schemeClr val="tx1"/>
                          </a:solidFill>
                        </a:rPr>
                        <a:t>XGBoost</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tx1"/>
                          </a:solidFill>
                        </a:rPr>
                        <a:t>0.391</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tx1"/>
                          </a:solidFill>
                        </a:rPr>
                        <a:t>0.656</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1500" b="1" dirty="0">
                          <a:solidFill>
                            <a:schemeClr val="tx1"/>
                          </a:solidFill>
                        </a:rPr>
                        <a:t>0.219</a:t>
                      </a:r>
                      <a:endParaRPr lang="en-US" sz="1500" dirty="0"/>
                    </a:p>
                  </a:txBody>
                  <a:tcPr marL="91440" marR="91440" marT="45720" marB="45720"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bl>
          </a:graphicData>
        </a:graphic>
      </p:graphicFrame>
      <p:sp>
        <p:nvSpPr>
          <p:cNvPr id="5" name="Recall card"/>
          <p:cNvSpPr/>
          <p:nvPr/>
        </p:nvSpPr>
        <p:spPr>
          <a:xfrm>
            <a:off x="6629400" y="3520440"/>
            <a:ext cx="5010912" cy="2606040"/>
          </a:xfrm>
          <a:prstGeom prst="roundRect">
            <a:avLst>
              <a:gd name="adj" fmla="val 4211"/>
            </a:avLst>
          </a:prstGeom>
          <a:solidFill>
            <a:schemeClr val="bg2"/>
          </a:solidFill>
          <a:ln/>
        </p:spPr>
      </p:sp>
      <p:sp>
        <p:nvSpPr>
          <p:cNvPr id="6" name="Recall value"/>
          <p:cNvSpPr txBox="1"/>
          <p:nvPr/>
        </p:nvSpPr>
        <p:spPr>
          <a:xfrm>
            <a:off x="6903720" y="3657600"/>
            <a:ext cx="4480560" cy="1097280"/>
          </a:xfrm>
          <a:prstGeom prst="rect">
            <a:avLst/>
          </a:prstGeom>
          <a:noFill/>
          <a:ln/>
        </p:spPr>
        <p:txBody>
          <a:bodyPr wrap="square" lIns="0" tIns="0" rIns="0" bIns="0" rtlCol="0" anchor="ctr"/>
          <a:lstStyle/>
          <a:p>
            <a:pPr indent="0" marL="0">
              <a:buNone/>
            </a:pPr>
            <a:r>
              <a:rPr lang="en-US" sz="6000" b="1" dirty="0">
                <a:solidFill>
                  <a:schemeClr val="accent1"/>
                </a:solidFill>
              </a:rPr>
              <a:t>11.1%</a:t>
            </a:r>
            <a:endParaRPr lang="en-US" sz="6000" dirty="0"/>
          </a:p>
        </p:txBody>
      </p:sp>
      <p:sp>
        <p:nvSpPr>
          <p:cNvPr id="7" name="Recall label"/>
          <p:cNvSpPr txBox="1"/>
          <p:nvPr/>
        </p:nvSpPr>
        <p:spPr>
          <a:xfrm>
            <a:off x="6903720" y="4800600"/>
            <a:ext cx="4480560" cy="1188720"/>
          </a:xfrm>
          <a:prstGeom prst="rect">
            <a:avLst/>
          </a:prstGeom>
          <a:noFill/>
          <a:ln/>
        </p:spPr>
        <p:txBody>
          <a:bodyPr wrap="square" lIns="0" tIns="0" rIns="0" bIns="0" rtlCol="0" anchor="t"/>
          <a:lstStyle/>
          <a:p>
            <a:pPr indent="0" marL="0">
              <a:buNone/>
            </a:pPr>
            <a:r>
              <a:rPr lang="en-US" sz="1500" dirty="0">
                <a:solidFill>
                  <a:schemeClr val="tx1"/>
                </a:solidFill>
              </a:rPr>
              <a:t>of delayed flights caught when half of the alerts must be real delays (Logistic Regression: 5.9%)</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chemeClr val="tx1"/>
                </a:solidFill>
              </a:rPr>
              <a:t>Precision-recall and ROC curves on the test set</a:t>
            </a:r>
            <a:endParaRPr lang="en-US" sz="3600" dirty="0"/>
          </a:p>
        </p:txBody>
      </p:sp>
      <p:pic>
        <p:nvPicPr>
          <p:cNvPr id="3" name="pr_roc_curves.png" descr="Precision-recall and ROC curves for Logistic Regression and XGBoost">    </p:cNvPr>
          <p:cNvPicPr>
            <a:picLocks noChangeAspect="1"/>
          </p:cNvPicPr>
          <p:nvPr/>
        </p:nvPicPr>
        <p:blipFill>
          <a:blip r:embed="rId1"/>
          <a:stretch>
            <a:fillRect/>
          </a:stretch>
        </p:blipFill>
        <p:spPr>
          <a:xfrm>
            <a:off x="1188720" y="1234440"/>
            <a:ext cx="9811512" cy="3773658"/>
          </a:xfrm>
          <a:prstGeom prst="rect">
            <a:avLst/>
          </a:prstGeom>
        </p:spPr>
      </p:pic>
      <p:sp>
        <p:nvSpPr>
          <p:cNvPr id="4" name="Curves caption"/>
          <p:cNvSpPr txBox="1"/>
          <p:nvPr/>
        </p:nvSpPr>
        <p:spPr>
          <a:xfrm>
            <a:off x="1188720" y="5166360"/>
            <a:ext cx="9811512" cy="822960"/>
          </a:xfrm>
          <a:prstGeom prst="rect">
            <a:avLst/>
          </a:prstGeom>
          <a:noFill/>
          <a:ln/>
        </p:spPr>
        <p:txBody>
          <a:bodyPr wrap="square" lIns="0" tIns="0" rIns="0" bIns="0" rtlCol="0" anchor="t"/>
          <a:lstStyle/>
          <a:p>
            <a:pPr indent="0" marL="0">
              <a:buNone/>
            </a:pPr>
            <a:r>
              <a:rPr lang="en-US" sz="1500" dirty="0">
                <a:solidFill>
                  <a:schemeClr val="tx1"/>
                </a:solidFill>
              </a:rPr>
              <a:t>Dashed lines show a random guess. Both models are clearly above it, but delays stay hard to predict before departure: weather and air traffic control are not in the features.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chemeClr val="tx1"/>
                </a:solidFill>
              </a:rPr>
              <a:t>Calibration fixes over-confident probabilities</a:t>
            </a:r>
            <a:endParaRPr lang="en-US" sz="3600" dirty="0"/>
          </a:p>
        </p:txBody>
      </p:sp>
      <p:pic>
        <p:nvPicPr>
          <p:cNvPr id="3" name="calibration.png" descr="Reliability diagrams before and after isotonic calibration">    </p:cNvPr>
          <p:cNvPicPr>
            <a:picLocks noChangeAspect="1"/>
          </p:cNvPicPr>
          <p:nvPr/>
        </p:nvPicPr>
        <p:blipFill>
          <a:blip r:embed="rId1"/>
          <a:stretch>
            <a:fillRect/>
          </a:stretch>
        </p:blipFill>
        <p:spPr>
          <a:xfrm>
            <a:off x="548640" y="1325880"/>
            <a:ext cx="7589520" cy="2919046"/>
          </a:xfrm>
          <a:prstGeom prst="rect">
            <a:avLst/>
          </a:prstGeom>
        </p:spPr>
      </p:pic>
      <p:sp>
        <p:nvSpPr>
          <p:cNvPr id="4" name="Calibration caption"/>
          <p:cNvSpPr txBox="1"/>
          <p:nvPr/>
        </p:nvSpPr>
        <p:spPr>
          <a:xfrm>
            <a:off x="548640" y="4389120"/>
            <a:ext cx="7589520" cy="457200"/>
          </a:xfrm>
          <a:prstGeom prst="rect">
            <a:avLst/>
          </a:prstGeom>
          <a:noFill/>
          <a:ln/>
        </p:spPr>
        <p:txBody>
          <a:bodyPr wrap="square" lIns="0" tIns="0" rIns="0" bIns="0" rtlCol="0" anchor="ctr"/>
          <a:lstStyle/>
          <a:p>
            <a:pPr indent="0" marL="0">
              <a:buNone/>
            </a:pPr>
            <a:r>
              <a:rPr lang="en-US" sz="1400" i="1" dirty="0">
                <a:solidFill>
                  <a:schemeClr val="accent3"/>
                </a:solidFill>
              </a:rPr>
              <a:t>Isotonic regression is fitted on the validation set and applied to the test set.</a:t>
            </a:r>
            <a:endParaRPr lang="en-US" sz="1400" dirty="0"/>
          </a:p>
        </p:txBody>
      </p:sp>
      <p:sp>
        <p:nvSpPr>
          <p:cNvPr id="5" name="Brier card"/>
          <p:cNvSpPr/>
          <p:nvPr/>
        </p:nvSpPr>
        <p:spPr>
          <a:xfrm>
            <a:off x="8412480" y="1325880"/>
            <a:ext cx="3227832" cy="4114800"/>
          </a:xfrm>
          <a:prstGeom prst="roundRect">
            <a:avLst>
              <a:gd name="adj" fmla="val 3399"/>
            </a:avLst>
          </a:prstGeom>
          <a:solidFill>
            <a:schemeClr val="bg2"/>
          </a:solidFill>
          <a:ln/>
        </p:spPr>
      </p:sp>
      <p:sp>
        <p:nvSpPr>
          <p:cNvPr id="6" name="Brier header"/>
          <p:cNvSpPr txBox="1"/>
          <p:nvPr/>
        </p:nvSpPr>
        <p:spPr>
          <a:xfrm>
            <a:off x="8686800" y="1508760"/>
            <a:ext cx="2697480" cy="457200"/>
          </a:xfrm>
          <a:prstGeom prst="rect">
            <a:avLst/>
          </a:prstGeom>
          <a:noFill/>
          <a:ln/>
        </p:spPr>
        <p:txBody>
          <a:bodyPr wrap="square" lIns="0" tIns="0" rIns="0" bIns="0" rtlCol="0" anchor="t"/>
          <a:lstStyle/>
          <a:p>
            <a:pPr indent="0" marL="0">
              <a:spcAft>
                <a:spcPts val="400"/>
              </a:spcAft>
              <a:buNone/>
            </a:pPr>
            <a:r>
              <a:rPr lang="en-US" sz="1800" b="1" dirty="0">
                <a:solidFill>
                  <a:schemeClr val="tx1"/>
                </a:solidFill>
              </a:rPr>
              <a:t>Brier score (lower is better)</a:t>
            </a:r>
            <a:endParaRPr lang="en-US" sz="1800" dirty="0"/>
          </a:p>
        </p:txBody>
      </p:sp>
      <p:sp>
        <p:nvSpPr>
          <p:cNvPr id="7" name="Logistic Regression Brier"/>
          <p:cNvSpPr txBox="1"/>
          <p:nvPr/>
        </p:nvSpPr>
        <p:spPr>
          <a:xfrm>
            <a:off x="8686800" y="2103120"/>
            <a:ext cx="2697480" cy="1005840"/>
          </a:xfrm>
          <a:prstGeom prst="rect">
            <a:avLst/>
          </a:prstGeom>
          <a:noFill/>
          <a:ln/>
        </p:spPr>
        <p:txBody>
          <a:bodyPr wrap="square" lIns="0" tIns="0" rIns="0" bIns="0" rtlCol="0" anchor="t"/>
          <a:lstStyle/>
          <a:p>
            <a:pPr indent="0" marL="0">
              <a:buNone/>
            </a:pPr>
            <a:r>
              <a:rPr lang="en-US" sz="1500" dirty="0">
                <a:solidFill>
                  <a:schemeClr val="tx1"/>
                </a:solidFill>
              </a:rPr>
              <a:t>Logistic Regression</a:t>
            </a:r>
            <a:endParaRPr lang="en-US" sz="1500" dirty="0"/>
          </a:p>
          <a:p>
            <a:pPr indent="0" marL="0">
              <a:buNone/>
            </a:pPr>
            <a:r>
              <a:rPr lang="en-US" sz="2800" b="1" dirty="0">
                <a:solidFill>
                  <a:schemeClr val="accent1"/>
                </a:solidFill>
              </a:rPr>
              <a:t>0.228 → 0.190</a:t>
            </a:r>
            <a:endParaRPr lang="en-US" sz="1500" dirty="0"/>
          </a:p>
        </p:txBody>
      </p:sp>
      <p:sp>
        <p:nvSpPr>
          <p:cNvPr id="8" name="XGBoost Brier"/>
          <p:cNvSpPr txBox="1"/>
          <p:nvPr/>
        </p:nvSpPr>
        <p:spPr>
          <a:xfrm>
            <a:off x="8686800" y="3246120"/>
            <a:ext cx="2697480" cy="1005840"/>
          </a:xfrm>
          <a:prstGeom prst="rect">
            <a:avLst/>
          </a:prstGeom>
          <a:noFill/>
          <a:ln/>
        </p:spPr>
        <p:txBody>
          <a:bodyPr wrap="square" lIns="0" tIns="0" rIns="0" bIns="0" rtlCol="0" anchor="t"/>
          <a:lstStyle/>
          <a:p>
            <a:pPr indent="0" marL="0">
              <a:buNone/>
            </a:pPr>
            <a:r>
              <a:rPr lang="en-US" sz="1500" dirty="0">
                <a:solidFill>
                  <a:schemeClr val="tx1"/>
                </a:solidFill>
              </a:rPr>
              <a:t>XGBoost</a:t>
            </a:r>
            <a:endParaRPr lang="en-US" sz="1500" dirty="0"/>
          </a:p>
          <a:p>
            <a:pPr indent="0" marL="0">
              <a:buNone/>
            </a:pPr>
            <a:r>
              <a:rPr lang="en-US" sz="2800" b="1" dirty="0">
                <a:solidFill>
                  <a:schemeClr val="accent1"/>
                </a:solidFill>
              </a:rPr>
              <a:t>0.219 → 0.188</a:t>
            </a:r>
            <a:endParaRPr lang="en-US" sz="1500" dirty="0"/>
          </a:p>
        </p:txBody>
      </p:sp>
      <p:sp>
        <p:nvSpPr>
          <p:cNvPr id="9" name="Brier note"/>
          <p:cNvSpPr txBox="1"/>
          <p:nvPr/>
        </p:nvSpPr>
        <p:spPr>
          <a:xfrm>
            <a:off x="8686800" y="4023360"/>
            <a:ext cx="2697480" cy="1325880"/>
          </a:xfrm>
          <a:prstGeom prst="rect">
            <a:avLst/>
          </a:prstGeom>
          <a:noFill/>
          <a:ln/>
        </p:spPr>
        <p:txBody>
          <a:bodyPr wrap="square" lIns="0" tIns="0" rIns="0" bIns="0" rtlCol="0" anchor="t"/>
          <a:lstStyle/>
          <a:p>
            <a:pPr indent="0" marL="0">
              <a:buNone/>
            </a:pPr>
            <a:r>
              <a:rPr lang="en-US" sz="1400" dirty="0">
                <a:solidFill>
                  <a:schemeClr val="tx1"/>
                </a:solidFill>
              </a:rPr>
              <a:t>A constant guess scores 0.192. The calibrated models slightly under-predict, because Sep to Oct were calmer than Nov to Dec.</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chemeClr val="tx1"/>
                </a:solidFill>
              </a:rPr>
              <a:t>Time of day and recent delays drive predictions</a:t>
            </a:r>
            <a:endParaRPr lang="en-US" sz="3600" dirty="0"/>
          </a:p>
        </p:txBody>
      </p:sp>
      <p:pic>
        <p:nvPicPr>
          <p:cNvPr id="3" name="feature_importance.png" descr="Top 15 XGBoost features by gain">    </p:cNvPr>
          <p:cNvPicPr>
            <a:picLocks noChangeAspect="1"/>
          </p:cNvPicPr>
          <p:nvPr/>
        </p:nvPicPr>
        <p:blipFill>
          <a:blip r:embed="rId1"/>
          <a:stretch>
            <a:fillRect/>
          </a:stretch>
        </p:blipFill>
        <p:spPr>
          <a:xfrm>
            <a:off x="548640" y="1234440"/>
            <a:ext cx="6400800" cy="4801800"/>
          </a:xfrm>
          <a:prstGeom prst="rect">
            <a:avLst/>
          </a:prstGeom>
        </p:spPr>
      </p:pic>
      <p:sp>
        <p:nvSpPr>
          <p:cNvPr id="4" name="Hour of day comes first circle"/>
          <p:cNvSpPr/>
          <p:nvPr/>
        </p:nvSpPr>
        <p:spPr>
          <a:xfrm>
            <a:off x="7269480" y="1417320"/>
            <a:ext cx="685800" cy="685800"/>
          </a:xfrm>
          <a:prstGeom prst="ellipse">
            <a:avLst/>
          </a:prstGeom>
          <a:solidFill>
            <a:schemeClr val="accent1"/>
          </a:solidFill>
          <a:ln/>
        </p:spPr>
      </p:sp>
      <p:pic>
        <p:nvPicPr>
          <p:cNvPr id="5" name="Hour of day comes first icon" descr="Hour of day comes first icon">    </p:cNvPr>
          <p:cNvPicPr>
            <a:picLocks noChangeAspect="1"/>
          </p:cNvPicPr>
          <p:nvPr/>
        </p:nvPicPr>
        <p:blipFill>
          <a:blip r:embed="rId2"/>
          <a:stretch>
            <a:fillRect/>
          </a:stretch>
        </p:blipFill>
        <p:spPr>
          <a:xfrm>
            <a:off x="7434072" y="1581912"/>
            <a:ext cx="356616" cy="356616"/>
          </a:xfrm>
          <a:prstGeom prst="rect">
            <a:avLst/>
          </a:prstGeom>
        </p:spPr>
      </p:pic>
      <p:sp>
        <p:nvSpPr>
          <p:cNvPr id="6" name="Hour of day comes first"/>
          <p:cNvSpPr txBox="1"/>
          <p:nvPr/>
        </p:nvSpPr>
        <p:spPr>
          <a:xfrm>
            <a:off x="8183880" y="1417320"/>
            <a:ext cx="3456432" cy="137160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Hour of day comes first</a:t>
            </a:r>
            <a:endParaRPr lang="en-US" sz="1700" dirty="0"/>
          </a:p>
          <a:p>
            <a:pPr indent="0" marL="0">
              <a:spcAft>
                <a:spcPts val="400"/>
              </a:spcAft>
              <a:buNone/>
            </a:pPr>
            <a:r>
              <a:rPr lang="en-US" sz="1500" dirty="0">
                <a:solidFill>
                  <a:schemeClr val="tx1"/>
                </a:solidFill>
              </a:rPr>
              <a:t>The sin and cos of the departure and arrival hour rank highest: later flights are riskier</a:t>
            </a:r>
            <a:endParaRPr lang="en-US" sz="1700" dirty="0"/>
          </a:p>
        </p:txBody>
      </p:sp>
      <p:sp>
        <p:nvSpPr>
          <p:cNvPr id="7" name="Recent delays carry over circle"/>
          <p:cNvSpPr/>
          <p:nvPr/>
        </p:nvSpPr>
        <p:spPr>
          <a:xfrm>
            <a:off x="7269480" y="2971800"/>
            <a:ext cx="685800" cy="685800"/>
          </a:xfrm>
          <a:prstGeom prst="ellipse">
            <a:avLst/>
          </a:prstGeom>
          <a:solidFill>
            <a:schemeClr val="accent1"/>
          </a:solidFill>
          <a:ln/>
        </p:spPr>
      </p:sp>
      <p:pic>
        <p:nvPicPr>
          <p:cNvPr id="8" name="Recent delays carry over icon" descr="Recent delays carry over icon">    </p:cNvPr>
          <p:cNvPicPr>
            <a:picLocks noChangeAspect="1"/>
          </p:cNvPicPr>
          <p:nvPr/>
        </p:nvPicPr>
        <p:blipFill>
          <a:blip r:embed="rId3"/>
          <a:stretch>
            <a:fillRect/>
          </a:stretch>
        </p:blipFill>
        <p:spPr>
          <a:xfrm>
            <a:off x="7434072" y="3136392"/>
            <a:ext cx="356616" cy="356616"/>
          </a:xfrm>
          <a:prstGeom prst="rect">
            <a:avLst/>
          </a:prstGeom>
        </p:spPr>
      </p:pic>
      <p:sp>
        <p:nvSpPr>
          <p:cNvPr id="9" name="Recent delays carry over"/>
          <p:cNvSpPr txBox="1"/>
          <p:nvPr/>
        </p:nvSpPr>
        <p:spPr>
          <a:xfrm>
            <a:off x="8183880" y="2971800"/>
            <a:ext cx="3456432" cy="137160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Recent delays carry over</a:t>
            </a:r>
            <a:endParaRPr lang="en-US" sz="1700" dirty="0"/>
          </a:p>
          <a:p>
            <a:pPr indent="0" marL="0">
              <a:spcAft>
                <a:spcPts val="400"/>
              </a:spcAft>
              <a:buNone/>
            </a:pPr>
            <a:r>
              <a:rPr lang="en-US" sz="1500" dirty="0">
                <a:solidFill>
                  <a:schemeClr val="tx1"/>
                </a:solidFill>
              </a:rPr>
              <a:t>The carrier's and route's delay rate over the last 7 days</a:t>
            </a:r>
            <a:endParaRPr lang="en-US" sz="1700" dirty="0"/>
          </a:p>
        </p:txBody>
      </p:sp>
      <p:sp>
        <p:nvSpPr>
          <p:cNvPr id="10" name="Busy days add risk circle"/>
          <p:cNvSpPr/>
          <p:nvPr/>
        </p:nvSpPr>
        <p:spPr>
          <a:xfrm>
            <a:off x="7269480" y="4526280"/>
            <a:ext cx="685800" cy="685800"/>
          </a:xfrm>
          <a:prstGeom prst="ellipse">
            <a:avLst/>
          </a:prstGeom>
          <a:solidFill>
            <a:schemeClr val="accent1"/>
          </a:solidFill>
          <a:ln/>
        </p:spPr>
      </p:sp>
      <p:pic>
        <p:nvPicPr>
          <p:cNvPr id="11" name="Busy days add risk icon" descr="Busy days add risk icon">    </p:cNvPr>
          <p:cNvPicPr>
            <a:picLocks noChangeAspect="1"/>
          </p:cNvPicPr>
          <p:nvPr/>
        </p:nvPicPr>
        <p:blipFill>
          <a:blip r:embed="rId4"/>
          <a:stretch>
            <a:fillRect/>
          </a:stretch>
        </p:blipFill>
        <p:spPr>
          <a:xfrm>
            <a:off x="7434072" y="4690872"/>
            <a:ext cx="356616" cy="356616"/>
          </a:xfrm>
          <a:prstGeom prst="rect">
            <a:avLst/>
          </a:prstGeom>
        </p:spPr>
      </p:pic>
      <p:sp>
        <p:nvSpPr>
          <p:cNvPr id="12" name="Busy days add risk"/>
          <p:cNvSpPr txBox="1"/>
          <p:nvPr/>
        </p:nvSpPr>
        <p:spPr>
          <a:xfrm>
            <a:off x="8183880" y="4526280"/>
            <a:ext cx="3456432" cy="1371600"/>
          </a:xfrm>
          <a:prstGeom prst="rect">
            <a:avLst/>
          </a:prstGeom>
          <a:noFill/>
          <a:ln/>
        </p:spPr>
        <p:txBody>
          <a:bodyPr wrap="square" lIns="0" tIns="0" rIns="0" bIns="0" rtlCol="0" anchor="t"/>
          <a:lstStyle/>
          <a:p>
            <a:pPr indent="0" marL="0">
              <a:spcAft>
                <a:spcPts val="400"/>
              </a:spcAft>
              <a:buNone/>
            </a:pPr>
            <a:r>
              <a:rPr lang="en-US" sz="1700" b="1" dirty="0">
                <a:solidFill>
                  <a:schemeClr val="tx1"/>
                </a:solidFill>
              </a:rPr>
              <a:t>Busy days add risk</a:t>
            </a:r>
            <a:endParaRPr lang="en-US" sz="1700" dirty="0"/>
          </a:p>
          <a:p>
            <a:pPr indent="0" marL="0">
              <a:spcAft>
                <a:spcPts val="400"/>
              </a:spcAft>
              <a:buNone/>
            </a:pPr>
            <a:r>
              <a:rPr lang="en-US" sz="1500" dirty="0">
                <a:solidFill>
                  <a:schemeClr val="tx1"/>
                </a:solidFill>
              </a:rPr>
              <a:t>More flights scheduled at the origin that day means more delays</a:t>
            </a:r>
            <a:endParaRPr lang="en-US" sz="1700" dirty="0"/>
          </a:p>
        </p:txBody>
      </p:sp>
      <p:sp>
        <p:nvSpPr>
          <p:cNvPr id="13" name="Agreement note"/>
          <p:cNvSpPr txBox="1"/>
          <p:nvPr/>
        </p:nvSpPr>
        <p:spPr>
          <a:xfrm>
            <a:off x="7269480" y="5806440"/>
            <a:ext cx="4370832" cy="365760"/>
          </a:xfrm>
          <a:prstGeom prst="rect">
            <a:avLst/>
          </a:prstGeom>
          <a:noFill/>
          <a:ln/>
        </p:spPr>
        <p:txBody>
          <a:bodyPr wrap="square" lIns="0" tIns="0" rIns="0" bIns="0" rtlCol="0" anchor="ctr"/>
          <a:lstStyle/>
          <a:p>
            <a:pPr indent="0" marL="0">
              <a:buNone/>
            </a:pPr>
            <a:r>
              <a:rPr lang="en-US" sz="1400" i="1" dirty="0">
                <a:solidFill>
                  <a:schemeClr val="accent3"/>
                </a:solidFill>
              </a:rPr>
              <a:t>Logistic Regression's largest coefficients agree.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chemeClr val="bg1"/>
                </a:solidFill>
              </a:rPr>
              <a:t>Takeaways and next steps</a:t>
            </a:r>
            <a:endParaRPr lang="en-US" sz="3600" dirty="0"/>
          </a:p>
        </p:txBody>
      </p:sp>
      <p:sp>
        <p:nvSpPr>
          <p:cNvPr id="3" name="What we found card"/>
          <p:cNvSpPr/>
          <p:nvPr/>
        </p:nvSpPr>
        <p:spPr>
          <a:xfrm>
            <a:off x="548640" y="1371600"/>
            <a:ext cx="3566160" cy="4160520"/>
          </a:xfrm>
          <a:prstGeom prst="roundRect">
            <a:avLst>
              <a:gd name="adj" fmla="val 3077"/>
            </a:avLst>
          </a:prstGeom>
          <a:solidFill>
            <a:schemeClr val="accent2"/>
          </a:solidFill>
          <a:ln/>
        </p:spPr>
      </p:sp>
      <p:sp>
        <p:nvSpPr>
          <p:cNvPr id="4" name="What we found circle"/>
          <p:cNvSpPr/>
          <p:nvPr/>
        </p:nvSpPr>
        <p:spPr>
          <a:xfrm>
            <a:off x="822960" y="1645920"/>
            <a:ext cx="731520" cy="731520"/>
          </a:xfrm>
          <a:prstGeom prst="ellipse">
            <a:avLst/>
          </a:prstGeom>
          <a:solidFill>
            <a:schemeClr val="accent1"/>
          </a:solidFill>
          <a:ln/>
        </p:spPr>
      </p:sp>
      <p:pic>
        <p:nvPicPr>
          <p:cNvPr id="5" name="What we found icon" descr="What we found icon">    </p:cNvPr>
          <p:cNvPicPr>
            <a:picLocks noChangeAspect="1"/>
          </p:cNvPicPr>
          <p:nvPr/>
        </p:nvPicPr>
        <p:blipFill>
          <a:blip r:embed="rId1"/>
          <a:stretch>
            <a:fillRect/>
          </a:stretch>
        </p:blipFill>
        <p:spPr>
          <a:xfrm>
            <a:off x="998525" y="1821485"/>
            <a:ext cx="380390" cy="380390"/>
          </a:xfrm>
          <a:prstGeom prst="rect">
            <a:avLst/>
          </a:prstGeom>
        </p:spPr>
      </p:pic>
      <p:sp>
        <p:nvSpPr>
          <p:cNvPr id="6" name="What we found"/>
          <p:cNvSpPr txBox="1"/>
          <p:nvPr/>
        </p:nvSpPr>
        <p:spPr>
          <a:xfrm>
            <a:off x="822960" y="2606040"/>
            <a:ext cx="3017520" cy="2788920"/>
          </a:xfrm>
          <a:prstGeom prst="rect">
            <a:avLst/>
          </a:prstGeom>
          <a:noFill/>
          <a:ln/>
        </p:spPr>
        <p:txBody>
          <a:bodyPr wrap="square" lIns="0" tIns="0" rIns="0" bIns="0" rtlCol="0" anchor="t"/>
          <a:lstStyle/>
          <a:p>
            <a:pPr indent="0" marL="0">
              <a:spcAft>
                <a:spcPts val="400"/>
              </a:spcAft>
              <a:buNone/>
            </a:pPr>
            <a:r>
              <a:rPr lang="en-US" sz="1800" b="1" dirty="0">
                <a:solidFill>
                  <a:schemeClr val="bg1"/>
                </a:solidFill>
              </a:rPr>
              <a:t>What we found</a:t>
            </a:r>
            <a:endParaRPr lang="en-US" sz="1800" dirty="0"/>
          </a:p>
          <a:p>
            <a:pPr marL="177800" indent="-177800">
              <a:spcAft>
                <a:spcPts val="400"/>
              </a:spcAft>
              <a:buSzPct val="100000"/>
              <a:buChar char="•"/>
            </a:pPr>
            <a:r>
              <a:rPr lang="en-US" sz="1600" dirty="0">
                <a:solidFill>
                  <a:schemeClr val="bg1"/>
                </a:solidFill>
              </a:rPr>
              <a:t>XGBoost beats Logistic Regression, most clearly at high precision</a:t>
            </a:r>
            <a:endParaRPr lang="en-US" sz="1800" dirty="0"/>
          </a:p>
          <a:p>
            <a:pPr marL="177800" indent="-177800">
              <a:spcAft>
                <a:spcPts val="400"/>
              </a:spcAft>
              <a:buSzPct val="100000"/>
              <a:buChar char="•"/>
            </a:pPr>
            <a:r>
              <a:rPr lang="en-US" sz="1600" dirty="0">
                <a:solidFill>
                  <a:schemeClr val="bg1"/>
                </a:solidFill>
              </a:rPr>
              <a:t>Calibration makes the probabilities usable</a:t>
            </a:r>
            <a:endParaRPr lang="en-US" sz="1800" dirty="0"/>
          </a:p>
          <a:p>
            <a:pPr marL="177800" indent="-177800">
              <a:spcAft>
                <a:spcPts val="400"/>
              </a:spcAft>
              <a:buSzPct val="100000"/>
              <a:buChar char="•"/>
            </a:pPr>
            <a:r>
              <a:rPr lang="en-US" sz="1600" dirty="0">
                <a:solidFill>
                  <a:schemeClr val="bg1"/>
                </a:solidFill>
              </a:rPr>
              <a:t>Time of day and recent delays are the strongest signals</a:t>
            </a:r>
            <a:endParaRPr lang="en-US" sz="1800" dirty="0"/>
          </a:p>
        </p:txBody>
      </p:sp>
      <p:sp>
        <p:nvSpPr>
          <p:cNvPr id="7" name="Limitations card"/>
          <p:cNvSpPr/>
          <p:nvPr/>
        </p:nvSpPr>
        <p:spPr>
          <a:xfrm>
            <a:off x="4297680" y="1371600"/>
            <a:ext cx="3566160" cy="4160520"/>
          </a:xfrm>
          <a:prstGeom prst="roundRect">
            <a:avLst>
              <a:gd name="adj" fmla="val 3077"/>
            </a:avLst>
          </a:prstGeom>
          <a:solidFill>
            <a:schemeClr val="accent2"/>
          </a:solidFill>
          <a:ln/>
        </p:spPr>
      </p:sp>
      <p:sp>
        <p:nvSpPr>
          <p:cNvPr id="8" name="Limitations circle"/>
          <p:cNvSpPr/>
          <p:nvPr/>
        </p:nvSpPr>
        <p:spPr>
          <a:xfrm>
            <a:off x="4572000" y="1645920"/>
            <a:ext cx="731520" cy="731520"/>
          </a:xfrm>
          <a:prstGeom prst="ellipse">
            <a:avLst/>
          </a:prstGeom>
          <a:solidFill>
            <a:schemeClr val="accent1"/>
          </a:solidFill>
          <a:ln/>
        </p:spPr>
      </p:sp>
      <p:pic>
        <p:nvPicPr>
          <p:cNvPr id="9" name="Limitations icon" descr="Limitations icon">    </p:cNvPr>
          <p:cNvPicPr>
            <a:picLocks noChangeAspect="1"/>
          </p:cNvPicPr>
          <p:nvPr/>
        </p:nvPicPr>
        <p:blipFill>
          <a:blip r:embed="rId2"/>
          <a:stretch>
            <a:fillRect/>
          </a:stretch>
        </p:blipFill>
        <p:spPr>
          <a:xfrm>
            <a:off x="4747565" y="1821485"/>
            <a:ext cx="380390" cy="380390"/>
          </a:xfrm>
          <a:prstGeom prst="rect">
            <a:avLst/>
          </a:prstGeom>
        </p:spPr>
      </p:pic>
      <p:sp>
        <p:nvSpPr>
          <p:cNvPr id="10" name="Limitations"/>
          <p:cNvSpPr txBox="1"/>
          <p:nvPr/>
        </p:nvSpPr>
        <p:spPr>
          <a:xfrm>
            <a:off x="4572000" y="2606040"/>
            <a:ext cx="3017520" cy="2788920"/>
          </a:xfrm>
          <a:prstGeom prst="rect">
            <a:avLst/>
          </a:prstGeom>
          <a:noFill/>
          <a:ln/>
        </p:spPr>
        <p:txBody>
          <a:bodyPr wrap="square" lIns="0" tIns="0" rIns="0" bIns="0" rtlCol="0" anchor="t"/>
          <a:lstStyle/>
          <a:p>
            <a:pPr indent="0" marL="0">
              <a:spcAft>
                <a:spcPts val="400"/>
              </a:spcAft>
              <a:buNone/>
            </a:pPr>
            <a:r>
              <a:rPr lang="en-US" sz="1800" b="1" dirty="0">
                <a:solidFill>
                  <a:schemeClr val="bg1"/>
                </a:solidFill>
              </a:rPr>
              <a:t>Limitations</a:t>
            </a:r>
            <a:endParaRPr lang="en-US" sz="1800" dirty="0"/>
          </a:p>
          <a:p>
            <a:pPr marL="177800" indent="-177800">
              <a:spcAft>
                <a:spcPts val="400"/>
              </a:spcAft>
              <a:buSzPct val="100000"/>
              <a:buChar char="•"/>
            </a:pPr>
            <a:r>
              <a:rPr lang="en-US" sz="1600" dirty="0">
                <a:solidFill>
                  <a:schemeClr val="bg1"/>
                </a:solidFill>
              </a:rPr>
              <a:t>Weather and air traffic control are not in the data</a:t>
            </a:r>
            <a:endParaRPr lang="en-US" sz="1800" dirty="0"/>
          </a:p>
          <a:p>
            <a:pPr marL="177800" indent="-177800">
              <a:spcAft>
                <a:spcPts val="400"/>
              </a:spcAft>
              <a:buSzPct val="100000"/>
              <a:buChar char="•"/>
            </a:pPr>
            <a:r>
              <a:rPr lang="en-US" sz="1600" dirty="0">
                <a:solidFill>
                  <a:schemeClr val="bg1"/>
                </a:solidFill>
              </a:rPr>
              <a:t>Only NYC airports and only 2013</a:t>
            </a:r>
            <a:endParaRPr lang="en-US" sz="1800" dirty="0"/>
          </a:p>
          <a:p>
            <a:pPr marL="177800" indent="-177800">
              <a:spcAft>
                <a:spcPts val="400"/>
              </a:spcAft>
              <a:buSzPct val="100000"/>
              <a:buChar char="•"/>
            </a:pPr>
            <a:r>
              <a:rPr lang="en-US" sz="1600" dirty="0">
                <a:solidFill>
                  <a:schemeClr val="bg1"/>
                </a:solidFill>
              </a:rPr>
              <a:t>Test months differ from training months</a:t>
            </a:r>
            <a:endParaRPr lang="en-US" sz="1800" dirty="0"/>
          </a:p>
        </p:txBody>
      </p:sp>
      <p:sp>
        <p:nvSpPr>
          <p:cNvPr id="11" name="Phase 2 card"/>
          <p:cNvSpPr/>
          <p:nvPr/>
        </p:nvSpPr>
        <p:spPr>
          <a:xfrm>
            <a:off x="8046720" y="1371600"/>
            <a:ext cx="3566160" cy="4160520"/>
          </a:xfrm>
          <a:prstGeom prst="roundRect">
            <a:avLst>
              <a:gd name="adj" fmla="val 3077"/>
            </a:avLst>
          </a:prstGeom>
          <a:solidFill>
            <a:schemeClr val="accent2"/>
          </a:solidFill>
          <a:ln/>
        </p:spPr>
      </p:sp>
      <p:sp>
        <p:nvSpPr>
          <p:cNvPr id="12" name="Phase 2 circle"/>
          <p:cNvSpPr/>
          <p:nvPr/>
        </p:nvSpPr>
        <p:spPr>
          <a:xfrm>
            <a:off x="8321040" y="1645920"/>
            <a:ext cx="731520" cy="731520"/>
          </a:xfrm>
          <a:prstGeom prst="ellipse">
            <a:avLst/>
          </a:prstGeom>
          <a:solidFill>
            <a:schemeClr val="accent1"/>
          </a:solidFill>
          <a:ln/>
        </p:spPr>
      </p:sp>
      <p:pic>
        <p:nvPicPr>
          <p:cNvPr id="13" name="Phase 2 icon" descr="Phase 2 icon">    </p:cNvPr>
          <p:cNvPicPr>
            <a:picLocks noChangeAspect="1"/>
          </p:cNvPicPr>
          <p:nvPr/>
        </p:nvPicPr>
        <p:blipFill>
          <a:blip r:embed="rId3"/>
          <a:stretch>
            <a:fillRect/>
          </a:stretch>
        </p:blipFill>
        <p:spPr>
          <a:xfrm>
            <a:off x="8496605" y="1821485"/>
            <a:ext cx="380390" cy="380390"/>
          </a:xfrm>
          <a:prstGeom prst="rect">
            <a:avLst/>
          </a:prstGeom>
        </p:spPr>
      </p:pic>
      <p:sp>
        <p:nvSpPr>
          <p:cNvPr id="14" name="Phase 2"/>
          <p:cNvSpPr txBox="1"/>
          <p:nvPr/>
        </p:nvSpPr>
        <p:spPr>
          <a:xfrm>
            <a:off x="8321040" y="2606040"/>
            <a:ext cx="3017520" cy="2788920"/>
          </a:xfrm>
          <a:prstGeom prst="rect">
            <a:avLst/>
          </a:prstGeom>
          <a:noFill/>
          <a:ln/>
        </p:spPr>
        <p:txBody>
          <a:bodyPr wrap="square" lIns="0" tIns="0" rIns="0" bIns="0" rtlCol="0" anchor="t"/>
          <a:lstStyle/>
          <a:p>
            <a:pPr indent="0" marL="0">
              <a:spcAft>
                <a:spcPts val="400"/>
              </a:spcAft>
              <a:buNone/>
            </a:pPr>
            <a:r>
              <a:rPr lang="en-US" sz="1800" b="1" dirty="0">
                <a:solidFill>
                  <a:schemeClr val="bg1"/>
                </a:solidFill>
              </a:rPr>
              <a:t>Phase 2</a:t>
            </a:r>
            <a:endParaRPr lang="en-US" sz="1800" dirty="0"/>
          </a:p>
          <a:p>
            <a:pPr marL="177800" indent="-177800">
              <a:spcAft>
                <a:spcPts val="400"/>
              </a:spcAft>
              <a:buSzPct val="100000"/>
              <a:buChar char="•"/>
            </a:pPr>
            <a:r>
              <a:rPr lang="en-US" sz="1600" dirty="0">
                <a:solidFill>
                  <a:schemeClr val="bg1"/>
                </a:solidFill>
              </a:rPr>
              <a:t>Neural network with learned embeddings for carrier, origin and destination</a:t>
            </a:r>
            <a:endParaRPr lang="en-US" sz="1800" dirty="0"/>
          </a:p>
          <a:p>
            <a:pPr marL="177800" indent="-177800">
              <a:spcAft>
                <a:spcPts val="400"/>
              </a:spcAft>
              <a:buSzPct val="100000"/>
              <a:buChar char="•"/>
            </a:pPr>
            <a:r>
              <a:rPr lang="en-US" sz="1600" dirty="0">
                <a:solidFill>
                  <a:schemeClr val="bg1"/>
                </a:solidFill>
              </a:rPr>
              <a:t>Same date split and metrics for a fair comparison</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chemeClr val="bg1"/>
                </a:solidFill>
              </a:rPr>
              <a:t>Thank you</a:t>
            </a:r>
            <a:endParaRPr lang="en-US" sz="3600" dirty="0"/>
          </a:p>
        </p:txBody>
      </p:sp>
      <p:sp>
        <p:nvSpPr>
          <p:cNvPr id="3" name="Questions circle"/>
          <p:cNvSpPr/>
          <p:nvPr/>
        </p:nvSpPr>
        <p:spPr>
          <a:xfrm>
            <a:off x="5272888" y="1691640"/>
            <a:ext cx="1645920" cy="1645920"/>
          </a:xfrm>
          <a:prstGeom prst="ellipse">
            <a:avLst/>
          </a:prstGeom>
          <a:solidFill>
            <a:schemeClr val="accent1"/>
          </a:solidFill>
          <a:ln/>
        </p:spPr>
      </p:sp>
      <p:pic>
        <p:nvPicPr>
          <p:cNvPr id="4" name="Questions icon" descr="Question mark">    </p:cNvPr>
          <p:cNvPicPr>
            <a:picLocks noChangeAspect="1"/>
          </p:cNvPicPr>
          <p:nvPr/>
        </p:nvPicPr>
        <p:blipFill>
          <a:blip r:embed="rId1"/>
          <a:stretch>
            <a:fillRect/>
          </a:stretch>
        </p:blipFill>
        <p:spPr>
          <a:xfrm>
            <a:off x="5684368" y="2103120"/>
            <a:ext cx="822960" cy="822960"/>
          </a:xfrm>
          <a:prstGeom prst="rect">
            <a:avLst/>
          </a:prstGeom>
        </p:spPr>
      </p:pic>
      <p:sp>
        <p:nvSpPr>
          <p:cNvPr id="5" name="Questions text"/>
          <p:cNvSpPr txBox="1"/>
          <p:nvPr/>
        </p:nvSpPr>
        <p:spPr>
          <a:xfrm>
            <a:off x="548640" y="3611880"/>
            <a:ext cx="11094415" cy="731520"/>
          </a:xfrm>
          <a:prstGeom prst="rect">
            <a:avLst/>
          </a:prstGeom>
          <a:noFill/>
          <a:ln/>
        </p:spPr>
        <p:txBody>
          <a:bodyPr wrap="square" lIns="0" tIns="0" rIns="0" bIns="0" rtlCol="0" anchor="ctr"/>
          <a:lstStyle/>
          <a:p>
            <a:pPr algn="ctr" indent="0" marL="0">
              <a:buNone/>
            </a:pPr>
            <a:r>
              <a:rPr lang="en-US" sz="3600" b="1" dirty="0">
                <a:solidFill>
                  <a:schemeClr val="bg1"/>
                </a:solidFill>
              </a:rPr>
              <a:t>Questions?</a:t>
            </a:r>
            <a:endParaRPr lang="en-US" sz="3600" dirty="0"/>
          </a:p>
        </p:txBody>
      </p:sp>
      <p:sp>
        <p:nvSpPr>
          <p:cNvPr id="6" name="Team names"/>
          <p:cNvSpPr txBox="1"/>
          <p:nvPr/>
        </p:nvSpPr>
        <p:spPr>
          <a:xfrm>
            <a:off x="548640" y="4526280"/>
            <a:ext cx="11094415" cy="457200"/>
          </a:xfrm>
          <a:prstGeom prst="rect">
            <a:avLst/>
          </a:prstGeom>
          <a:noFill/>
          <a:ln/>
        </p:spPr>
        <p:txBody>
          <a:bodyPr wrap="square" lIns="0" tIns="0" rIns="0" bIns="0" rtlCol="0" anchor="ctr"/>
          <a:lstStyle/>
          <a:p>
            <a:pPr algn="ctr" indent="0" marL="0">
              <a:buNone/>
            </a:pPr>
            <a:r>
              <a:rPr lang="en-US" sz="1800" dirty="0">
                <a:solidFill>
                  <a:schemeClr val="bg2"/>
                </a:solidFill>
              </a:rPr>
              <a:t>Asad Ali  ·  Divyansh Bhartia  ·  Vikrant Yadav  ·  Mayank Pillai  ·  Prashant Raj</a:t>
            </a:r>
            <a:endParaRPr lang="en-US" sz="1800" dirty="0"/>
          </a:p>
        </p:txBody>
      </p:sp>
      <p:sp>
        <p:nvSpPr>
          <p:cNvPr id="7" name="Repo link">
            <a:hlinkClick r:id="rId2" tooltip=""/>
          </p:cNvPr>
          <p:cNvSpPr txBox="1"/>
          <p:nvPr/>
        </p:nvSpPr>
        <p:spPr>
          <a:xfrm>
            <a:off x="548640" y="5120640"/>
            <a:ext cx="11094415" cy="411480"/>
          </a:xfrm>
          <a:prstGeom prst="rect">
            <a:avLst/>
          </a:prstGeom>
          <a:noFill/>
          <a:ln/>
        </p:spPr>
        <p:txBody>
          <a:bodyPr wrap="square" lIns="0" tIns="0" rIns="0" bIns="0" rtlCol="0" anchor="ctr"/>
          <a:lstStyle/>
          <a:p>
            <a:pPr algn="ctr" indent="0" marL="0">
              <a:buNone/>
            </a:pPr>
            <a:r>
              <a:rPr lang="en-US" sz="1600" u="sng" dirty="0">
                <a:solidFill>
                  <a:schemeClr val="accent1"/>
                </a:solidFill>
                <a:hlinkClick r:id="rId2" invalidUrl="" action="" tgtFrame="" tooltip="" history="1" highlightClick="0" endSnd="0">
                  <a:extLst>
                    <a:ext uri="{A12FA001-AC4F-418D-AE19-62706E023703}">
                      <ahyp:hlinkClr xmlns:ahyp="http://schemas.microsoft.com/office/drawing/2018/hyperlinkcolor" val="tx"/>
                    </a:ext>
                  </a:extLst>
                </a:hlinkClick>
              </a:rPr>
              <a:t>github.com/mayank-pillai-99/flight-delay-prediction</a:t>
            </a:r>
            <a:endParaRPr lang="en-US" sz="16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theme/theme1.xml><?xml version="1.0" encoding="utf-8"?>
<a:theme xmlns:a="http://schemas.openxmlformats.org/drawingml/2006/main" name="Night Departure">
  <a:themeElements>
    <a:clrScheme name="Night Departure">
      <a:dk1>
        <a:srgbClr val="14213D"/>
      </a:dk1>
      <a:lt1>
        <a:srgbClr val="FFFFFF"/>
      </a:lt1>
      <a:dk2>
        <a:srgbClr val="0B1626"/>
      </a:dk2>
      <a:lt2>
        <a:srgbClr val="EEF2F7"/>
      </a:lt2>
      <a:accent1>
        <a:srgbClr val="F5A623"/>
      </a:accent1>
      <a:accent2>
        <a:srgbClr val="1F3A60"/>
      </a:accent2>
      <a:accent3>
        <a:srgbClr val="5B6B82"/>
      </a:accent3>
      <a:accent4>
        <a:srgbClr val="9AA5B1"/>
      </a:accent4>
      <a:accent5>
        <a:srgbClr val="D64545"/>
      </a:accent5>
      <a:accent6>
        <a:srgbClr val="2F855A"/>
      </a:accent6>
      <a:hlink>
        <a:srgbClr val="F5A623"/>
      </a:hlink>
      <a:folHlink>
        <a:srgbClr val="9AA5B1"/>
      </a:folHlink>
    </a:clrScheme>
    <a:fontScheme name="Night Departur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Flight Delay Prediction - Phase 1</dc:title>
  <dc:subject>CSAI Project 21 - Machine Learning evaluation</dc:subject>
  <dc:creator>Asad Ali, Divyansh Bhartia, Vikrant Yadav, Mayank Pillai, Prashant Raj</dc:creator>
  <cp:lastModifiedBy>Asad Ali, Divyansh Bhartia, Vikrant Yadav, Mayank Pillai, Prashant Raj</cp:lastModifiedBy>
  <cp:revision>1</cp:revision>
  <dcterms:created xsi:type="dcterms:W3CDTF">2026-10-25T08:27:39Z</dcterms:created>
  <dcterms:modified xsi:type="dcterms:W3CDTF">2026-10-25T08:27:39Z</dcterms:modified>
</cp:coreProperties>
</file>